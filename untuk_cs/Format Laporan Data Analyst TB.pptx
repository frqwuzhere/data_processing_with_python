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68" r:id="rId2"/>
    <p:sldId id="1236" r:id="rId3"/>
    <p:sldId id="1576" r:id="rId4"/>
    <p:sldId id="1577" r:id="rId5"/>
    <p:sldId id="1564" r:id="rId6"/>
    <p:sldId id="1252" r:id="rId7"/>
    <p:sldId id="282" r:id="rId8"/>
    <p:sldId id="1565" r:id="rId9"/>
    <p:sldId id="1566" r:id="rId10"/>
    <p:sldId id="1574" r:id="rId11"/>
    <p:sldId id="1579" r:id="rId12"/>
    <p:sldId id="1578" r:id="rId13"/>
    <p:sldId id="1580" r:id="rId14"/>
    <p:sldId id="1584" r:id="rId15"/>
    <p:sldId id="1583" r:id="rId16"/>
    <p:sldId id="1582" r:id="rId17"/>
    <p:sldId id="1567" r:id="rId18"/>
    <p:sldId id="1568" r:id="rId19"/>
    <p:sldId id="1569" r:id="rId20"/>
    <p:sldId id="1570" r:id="rId21"/>
    <p:sldId id="1571" r:id="rId22"/>
    <p:sldId id="1269" r:id="rId23"/>
    <p:sldId id="1573" r:id="rId24"/>
    <p:sldId id="1572" r:id="rId25"/>
    <p:sldId id="1266" r:id="rId26"/>
    <p:sldId id="1267" r:id="rId27"/>
    <p:sldId id="157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A6E0"/>
    <a:srgbClr val="FFFFFF"/>
    <a:srgbClr val="213F9A"/>
    <a:srgbClr val="008000"/>
    <a:srgbClr val="164841"/>
    <a:srgbClr val="7030A0"/>
    <a:srgbClr val="D1D7A8"/>
    <a:srgbClr val="00B0F0"/>
    <a:srgbClr val="CED4A7"/>
    <a:srgbClr val="FBF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400" autoAdjust="0"/>
  </p:normalViewPr>
  <p:slideViewPr>
    <p:cSldViewPr snapToGrid="0">
      <p:cViewPr varScale="1">
        <p:scale>
          <a:sx n="60" d="100"/>
          <a:sy n="60" d="100"/>
        </p:scale>
        <p:origin x="11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sra%20holding%20company\analisa\2025\Summary_202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[Summary_2025.xlsx]Pemetaan!PivotTable7</c:name>
    <c:fmtId val="5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Pemetaan!$Q$4</c:f>
              <c:strCache>
                <c:ptCount val="1"/>
                <c:pt idx="0">
                  <c:v>Count of Invoice ID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Pemetaan!$P$5:$P$13</c:f>
              <c:multiLvlStrCache>
                <c:ptCount val="7"/>
                <c:lvl>
                  <c:pt idx="0">
                    <c:v>02-Jun</c:v>
                  </c:pt>
                  <c:pt idx="1">
                    <c:v>03-Jun</c:v>
                  </c:pt>
                  <c:pt idx="2">
                    <c:v>04-Jun</c:v>
                  </c:pt>
                  <c:pt idx="3">
                    <c:v>05-Jun</c:v>
                  </c:pt>
                  <c:pt idx="4">
                    <c:v>06-Jun</c:v>
                  </c:pt>
                  <c:pt idx="5">
                    <c:v>07-Jun</c:v>
                  </c:pt>
                  <c:pt idx="6">
                    <c:v>08-Jun</c:v>
                  </c:pt>
                </c:lvl>
                <c:lvl>
                  <c:pt idx="0">
                    <c:v>Jun</c:v>
                  </c:pt>
                </c:lvl>
              </c:multiLvlStrCache>
            </c:multiLvlStrRef>
          </c:cat>
          <c:val>
            <c:numRef>
              <c:f>Pemetaan!$Q$5:$Q$13</c:f>
              <c:numCache>
                <c:formatCode>General</c:formatCode>
                <c:ptCount val="7"/>
                <c:pt idx="0">
                  <c:v>98</c:v>
                </c:pt>
                <c:pt idx="1">
                  <c:v>142</c:v>
                </c:pt>
                <c:pt idx="2">
                  <c:v>262</c:v>
                </c:pt>
                <c:pt idx="3">
                  <c:v>327</c:v>
                </c:pt>
                <c:pt idx="4">
                  <c:v>302</c:v>
                </c:pt>
                <c:pt idx="5">
                  <c:v>161</c:v>
                </c:pt>
                <c:pt idx="6">
                  <c:v>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00-4903-B67F-5DD1E9F9D7EC}"/>
            </c:ext>
          </c:extLst>
        </c:ser>
        <c:ser>
          <c:idx val="1"/>
          <c:order val="1"/>
          <c:tx>
            <c:strRef>
              <c:f>Pemetaan!$R$4</c:f>
              <c:strCache>
                <c:ptCount val="1"/>
                <c:pt idx="0">
                  <c:v>Sum of 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Pemetaan!$P$5:$P$13</c:f>
              <c:multiLvlStrCache>
                <c:ptCount val="7"/>
                <c:lvl>
                  <c:pt idx="0">
                    <c:v>02-Jun</c:v>
                  </c:pt>
                  <c:pt idx="1">
                    <c:v>03-Jun</c:v>
                  </c:pt>
                  <c:pt idx="2">
                    <c:v>04-Jun</c:v>
                  </c:pt>
                  <c:pt idx="3">
                    <c:v>05-Jun</c:v>
                  </c:pt>
                  <c:pt idx="4">
                    <c:v>06-Jun</c:v>
                  </c:pt>
                  <c:pt idx="5">
                    <c:v>07-Jun</c:v>
                  </c:pt>
                  <c:pt idx="6">
                    <c:v>08-Jun</c:v>
                  </c:pt>
                </c:lvl>
                <c:lvl>
                  <c:pt idx="0">
                    <c:v>Jun</c:v>
                  </c:pt>
                </c:lvl>
              </c:multiLvlStrCache>
            </c:multiLvlStrRef>
          </c:cat>
          <c:val>
            <c:numRef>
              <c:f>Pemetaan!$R$5:$R$13</c:f>
              <c:numCache>
                <c:formatCode>_("Rp"* #,##0_);_("Rp"* \(#,##0\);_("Rp"* "-"_);_(@_)</c:formatCode>
                <c:ptCount val="7"/>
                <c:pt idx="0">
                  <c:v>12861625</c:v>
                </c:pt>
                <c:pt idx="1">
                  <c:v>17226914</c:v>
                </c:pt>
                <c:pt idx="2">
                  <c:v>30608813</c:v>
                </c:pt>
                <c:pt idx="3">
                  <c:v>39502557</c:v>
                </c:pt>
                <c:pt idx="4">
                  <c:v>34724622</c:v>
                </c:pt>
                <c:pt idx="5">
                  <c:v>17329406</c:v>
                </c:pt>
                <c:pt idx="6">
                  <c:v>16129489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00-4903-B67F-5DD1E9F9D7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4831360"/>
        <c:axId val="584840000"/>
      </c:barChart>
      <c:catAx>
        <c:axId val="584831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4840000"/>
        <c:crosses val="autoZero"/>
        <c:auto val="1"/>
        <c:lblAlgn val="ctr"/>
        <c:lblOffset val="100"/>
        <c:noMultiLvlLbl val="0"/>
      </c:catAx>
      <c:valAx>
        <c:axId val="584840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4831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A65CE-B783-49FC-B241-AD7E34E0DD4A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9AC581-A11A-44D5-92A5-C4CE28990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053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Hari	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Jumlah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Donatur</a:t>
            </a:r>
            <a:r>
              <a:rPr lang="en-US" sz="1200" dirty="0">
                <a:effectLst/>
                <a:latin typeface="Segoe UI" panose="020B0502040204020203" pitchFamily="34" charset="0"/>
              </a:rPr>
              <a:t>	Total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Donasi</a:t>
            </a:r>
            <a:r>
              <a:rPr lang="en-US" sz="1200" dirty="0">
                <a:effectLst/>
                <a:latin typeface="Segoe UI" panose="020B0502040204020203" pitchFamily="34" charset="0"/>
              </a:rPr>
              <a:t> (Rp)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Senin	42	6.500.000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Selasa	38	7.000.000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Rabu	30	5.300.000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Kamis	28	6.200.000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Jumat	45	12.700.000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Sabtu	10	3.100.000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 err="1">
                <a:effectLst/>
                <a:latin typeface="Segoe UI" panose="020B0502040204020203" pitchFamily="34" charset="0"/>
              </a:rPr>
              <a:t>Minggu</a:t>
            </a:r>
            <a:r>
              <a:rPr lang="en-US" sz="1200" dirty="0">
                <a:effectLst/>
                <a:latin typeface="Segoe UI" panose="020B0502040204020203" pitchFamily="34" charset="0"/>
              </a:rPr>
              <a:t>	5	1.520.000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📈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Grafik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batang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donasi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harian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AC581-A11A-44D5-92A5-C4CE289908A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292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AC581-A11A-44D5-92A5-C4CE289908A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49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 Per 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AC581-A11A-44D5-92A5-C4CE289908A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85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A0D74-7D0B-E0D6-8D01-A2F259BFD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87CBA-C003-72E9-BD7A-78DB8EBF3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A6558C-1F2F-A509-3596-20B2C7224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321F0-BBE3-23D2-AAB6-5C98259840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AC581-A11A-44D5-92A5-C4CE289908A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55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FA924-75F3-FA40-6D93-CFE40C8BA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A1EA22-C949-F935-891D-CADA46F6C4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3B1683-CD84-39D1-C64E-5180E23FF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 Per 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31B28-8637-890F-A0C8-01DCF104CA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AC581-A11A-44D5-92A5-C4CE289908A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76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29813-E807-D3AF-2668-4581969A2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BD428-F11A-076D-C7DE-FA3DA1514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313B82-3DD1-1D23-427D-D02F74C75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 Per 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717A4-D237-9CA9-7C29-45ADB83C78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AC581-A11A-44D5-92A5-C4CE289908A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83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94A35-4595-CE3C-41AB-D88AFAC1C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2CAE5C-62D4-A4F6-7F05-18A150C67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2C984-024C-6742-7EE5-EFC74E334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 Per 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68279-CF61-8924-441A-C0528F5E6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AC581-A11A-44D5-92A5-C4CE289908A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5939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516F1-B8EE-BC9A-5F18-2BBD30949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7D080-4C7A-4DE2-E52F-E3E585983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851D7F-AC33-1C93-3F9D-A29B5C01D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 Per 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C40BC-5CBB-22BD-30DF-27E24C2B1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AC581-A11A-44D5-92A5-C4CE289908A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21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3510D-4505-F9FB-08D6-AA159EF1D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8BCE87-AB18-7936-ECF2-49600456E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F1D530-1386-6755-F0DF-497F2E863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9F1F5-D728-F6F4-D3A6-66E2FF735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AC581-A11A-44D5-92A5-C4CE289908A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086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4EBFE-857A-11B4-B8B9-449AD35B0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E6BCD-AEC5-D6BE-0546-B21EE1525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47DA2C-C1AE-B378-195F-51792A785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Hari	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Jumlah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Donatur</a:t>
            </a:r>
            <a:r>
              <a:rPr lang="en-US" sz="1200" dirty="0">
                <a:effectLst/>
                <a:latin typeface="Segoe UI" panose="020B0502040204020203" pitchFamily="34" charset="0"/>
              </a:rPr>
              <a:t>	Total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Donasi</a:t>
            </a:r>
            <a:r>
              <a:rPr lang="en-US" sz="1200" dirty="0">
                <a:effectLst/>
                <a:latin typeface="Segoe UI" panose="020B0502040204020203" pitchFamily="34" charset="0"/>
              </a:rPr>
              <a:t> (Rp)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Senin	42	6.500.000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Selasa	38	7.000.000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Rabu	30	5.300.000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Kamis	28	6.200.000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Jumat	45	12.700.000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Sabtu	10	3.100.000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 err="1">
                <a:effectLst/>
                <a:latin typeface="Segoe UI" panose="020B0502040204020203" pitchFamily="34" charset="0"/>
              </a:rPr>
              <a:t>Minggu</a:t>
            </a:r>
            <a:r>
              <a:rPr lang="en-US" sz="1200" dirty="0">
                <a:effectLst/>
                <a:latin typeface="Segoe UI" panose="020B0502040204020203" pitchFamily="34" charset="0"/>
              </a:rPr>
              <a:t>	5	1.520.000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📈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Grafik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batang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donasi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harian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618C9-FB52-178B-AA26-F684DCDD40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AC581-A11A-44D5-92A5-C4CE289908A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52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6796F-DB4E-67F4-0AA3-037743E40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799748-D229-7E2A-6198-BD2F428E5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2832FC-7CD2-468B-1F5F-6C2F2F1C0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Hari	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Jumlah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Donatur</a:t>
            </a:r>
            <a:r>
              <a:rPr lang="en-US" sz="1200" dirty="0">
                <a:effectLst/>
                <a:latin typeface="Segoe UI" panose="020B0502040204020203" pitchFamily="34" charset="0"/>
              </a:rPr>
              <a:t>	Total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Donasi</a:t>
            </a:r>
            <a:r>
              <a:rPr lang="en-US" sz="1200" dirty="0">
                <a:effectLst/>
                <a:latin typeface="Segoe UI" panose="020B0502040204020203" pitchFamily="34" charset="0"/>
              </a:rPr>
              <a:t> (Rp)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Senin	42	6.500.000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Selasa	38	7.000.000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Rabu	30	5.300.000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Kamis	28	6.200.000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Jumat	45	12.700.000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Sabtu	10	3.100.000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 err="1">
                <a:effectLst/>
                <a:latin typeface="Segoe UI" panose="020B0502040204020203" pitchFamily="34" charset="0"/>
              </a:rPr>
              <a:t>Minggu</a:t>
            </a:r>
            <a:r>
              <a:rPr lang="en-US" sz="1200" dirty="0">
                <a:effectLst/>
                <a:latin typeface="Segoe UI" panose="020B0502040204020203" pitchFamily="34" charset="0"/>
              </a:rPr>
              <a:t>	5	1.520.000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📈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Grafik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batang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donasi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harian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9A737-4C9A-A95B-58F4-475556CD13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AC581-A11A-44D5-92A5-C4CE289908A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456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58775-E44A-6741-43F6-CC9D36FE8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5FA70-4EF6-6B11-3BE0-E3988882E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89F18-2F9E-8C0C-7738-834F4CA15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Hari	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Jumlah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Donatur</a:t>
            </a:r>
            <a:r>
              <a:rPr lang="en-US" sz="1200" dirty="0">
                <a:effectLst/>
                <a:latin typeface="Segoe UI" panose="020B0502040204020203" pitchFamily="34" charset="0"/>
              </a:rPr>
              <a:t>	Total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Donasi</a:t>
            </a:r>
            <a:r>
              <a:rPr lang="en-US" sz="1200" dirty="0">
                <a:effectLst/>
                <a:latin typeface="Segoe UI" panose="020B0502040204020203" pitchFamily="34" charset="0"/>
              </a:rPr>
              <a:t> (Rp)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Senin	42	6.500.000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Selasa	38	7.000.000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Rabu	30	5.300.000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Kamis	28	6.200.000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Jumat	45	12.700.000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Sabtu	10	3.100.000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 err="1">
                <a:effectLst/>
                <a:latin typeface="Segoe UI" panose="020B0502040204020203" pitchFamily="34" charset="0"/>
              </a:rPr>
              <a:t>Minggu</a:t>
            </a:r>
            <a:r>
              <a:rPr lang="en-US" sz="1200" dirty="0">
                <a:effectLst/>
                <a:latin typeface="Segoe UI" panose="020B0502040204020203" pitchFamily="34" charset="0"/>
              </a:rPr>
              <a:t>	5	1.520.000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📈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Grafik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batang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donasi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harian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8F5CC-50AF-9626-743B-5003E3555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AC581-A11A-44D5-92A5-C4CE289908A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43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7C738-E656-C5EF-7A0E-40CDC4ED0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4A553B-CA68-2598-49C9-0CF7B9DB9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275DD-8720-A0AE-2B94-C36B6521D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Hari	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Jumlah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Donatur</a:t>
            </a:r>
            <a:r>
              <a:rPr lang="en-US" sz="1200" dirty="0">
                <a:effectLst/>
                <a:latin typeface="Segoe UI" panose="020B0502040204020203" pitchFamily="34" charset="0"/>
              </a:rPr>
              <a:t>	Total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Donasi</a:t>
            </a:r>
            <a:r>
              <a:rPr lang="en-US" sz="1200" dirty="0">
                <a:effectLst/>
                <a:latin typeface="Segoe UI" panose="020B0502040204020203" pitchFamily="34" charset="0"/>
              </a:rPr>
              <a:t> (Rp)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Senin	42	6.500.000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Selasa	38	7.000.000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Rabu	30	5.300.000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Kamis	28	6.200.000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Jumat	45	12.700.000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Sabtu	10	3.100.000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 err="1">
                <a:effectLst/>
                <a:latin typeface="Segoe UI" panose="020B0502040204020203" pitchFamily="34" charset="0"/>
              </a:rPr>
              <a:t>Minggu</a:t>
            </a:r>
            <a:r>
              <a:rPr lang="en-US" sz="1200" dirty="0">
                <a:effectLst/>
                <a:latin typeface="Segoe UI" panose="020B0502040204020203" pitchFamily="34" charset="0"/>
              </a:rPr>
              <a:t>	5	1.520.000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📈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Grafik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batang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donasi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harian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9DC60-59C0-8A3C-1F8F-088C001BF1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AC581-A11A-44D5-92A5-C4CE289908A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07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AC581-A11A-44D5-92A5-C4CE289908A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0556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05D81-3572-87D1-AD8E-AF85E3C8A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CEF4DC-6E75-E6B2-FB80-F2E681750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89533C-93DC-B6AC-B2B2-0BD838546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Hari	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Jumlah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Donatur</a:t>
            </a:r>
            <a:r>
              <a:rPr lang="en-US" sz="1200" dirty="0">
                <a:effectLst/>
                <a:latin typeface="Segoe UI" panose="020B0502040204020203" pitchFamily="34" charset="0"/>
              </a:rPr>
              <a:t>	Total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Donasi</a:t>
            </a:r>
            <a:r>
              <a:rPr lang="en-US" sz="1200" dirty="0">
                <a:effectLst/>
                <a:latin typeface="Segoe UI" panose="020B0502040204020203" pitchFamily="34" charset="0"/>
              </a:rPr>
              <a:t> (Rp)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Senin	42	6.500.000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Selasa	38	7.000.000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Rabu	30	5.300.000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Kamis	28	6.200.000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Jumat	45	12.700.000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Sabtu	10	3.100.000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 err="1">
                <a:effectLst/>
                <a:latin typeface="Segoe UI" panose="020B0502040204020203" pitchFamily="34" charset="0"/>
              </a:rPr>
              <a:t>Minggu</a:t>
            </a:r>
            <a:r>
              <a:rPr lang="en-US" sz="1200" dirty="0">
                <a:effectLst/>
                <a:latin typeface="Segoe UI" panose="020B0502040204020203" pitchFamily="34" charset="0"/>
              </a:rPr>
              <a:t>	5	1.520.000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200" dirty="0">
                <a:effectLst/>
                <a:latin typeface="Segoe UI" panose="020B0502040204020203" pitchFamily="34" charset="0"/>
              </a:rPr>
              <a:t>📈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Grafik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batang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donasi</a:t>
            </a:r>
            <a:r>
              <a:rPr lang="en-US" sz="1200" dirty="0">
                <a:effectLst/>
                <a:latin typeface="Segoe UI" panose="020B0502040204020203" pitchFamily="34" charset="0"/>
              </a:rPr>
              <a:t> </a:t>
            </a:r>
            <a:r>
              <a:rPr lang="en-US" sz="1200" dirty="0" err="1">
                <a:effectLst/>
                <a:latin typeface="Segoe UI" panose="020B0502040204020203" pitchFamily="34" charset="0"/>
              </a:rPr>
              <a:t>harian</a:t>
            </a:r>
            <a:endParaRPr lang="en-US" sz="1200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A8730-DB3A-66B5-FFB1-0F3CDA3306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AC581-A11A-44D5-92A5-C4CE289908A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966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F68FB-02F1-B273-CFD3-2FAE45078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4E02CD-529E-0A66-C68F-642E64D2E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3C5EDD-F943-63AF-10E9-D41261D86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23823-667B-4DEA-7EC9-67A6A33B73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AC581-A11A-44D5-92A5-C4CE289908A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983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9AC581-A11A-44D5-92A5-C4CE289908A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858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AA995-7784-4659-B389-BA42637E1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97C395-A75B-4AC0-ADC1-99240231D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A9AE5-F263-465C-B35B-D2E818DEE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DECB4-6CC9-4770-A1B1-F0B476A30F1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D3ADF-93B8-4056-9596-E6BA34F62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A06A8-3470-4C0B-A0F1-C02984802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DD27-A284-4B50-A92F-74350642FB5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0">
            <a:extLst>
              <a:ext uri="{FF2B5EF4-FFF2-40B4-BE49-F238E27FC236}">
                <a16:creationId xmlns:a16="http://schemas.microsoft.com/office/drawing/2014/main" id="{561246BA-0D63-4533-9DFB-7D3CFEA1EF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333839"/>
            <a:ext cx="1585384" cy="579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0787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D0056-0A9E-40AF-862D-F755824F8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27998-4900-40B6-8049-98046110E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6D2DA-9C68-49B4-89F2-624DA9F0D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DECB4-6CC9-4770-A1B1-F0B476A30F1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E493F-5E95-470F-9E3A-CA121B467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4A444-6E66-41DA-BD8C-EED96B6A2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DD27-A284-4B50-A92F-74350642FB5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0">
            <a:extLst>
              <a:ext uri="{FF2B5EF4-FFF2-40B4-BE49-F238E27FC236}">
                <a16:creationId xmlns:a16="http://schemas.microsoft.com/office/drawing/2014/main" id="{EA5FC94E-A547-49BC-8813-AD870E6B91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333839"/>
            <a:ext cx="1585384" cy="579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9347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3F6BB-768A-4E98-8072-B89910704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0D1D2-099B-492C-9C2C-06D8A0A48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D365F-1B66-4AF0-8CD8-7A80F4008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DECB4-6CC9-4770-A1B1-F0B476A30F1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C5C80-EAAF-42F8-A5CE-ACF40059A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CB462-D06F-4DF3-87A0-75B78E559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DD27-A284-4B50-A92F-74350642FB5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0">
            <a:extLst>
              <a:ext uri="{FF2B5EF4-FFF2-40B4-BE49-F238E27FC236}">
                <a16:creationId xmlns:a16="http://schemas.microsoft.com/office/drawing/2014/main" id="{5A980BC0-25CE-4F39-A8F1-24F8064AAA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333839"/>
            <a:ext cx="1585384" cy="579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1758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F8EDB-AB6D-4478-997D-CD630659F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D757C-7690-46EE-BA86-4010841268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DE728-1BDC-49C5-92EE-44F88AF60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47666C-DBE6-46C4-AD92-12E61BA53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DECB4-6CC9-4770-A1B1-F0B476A30F1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633FA-DBAF-49D2-A9D0-676E94FD0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2D0B4-772E-455B-9C42-2C6F80D1F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DD27-A284-4B50-A92F-74350642F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079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F715F-0A1B-48A0-A880-08A134F37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19BFF-DFAC-45AC-988B-DBF3EC3A1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D581E-C2E0-40FC-9847-EB8AAEC59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CD38A0-4852-46E5-ADCA-F3AADC0DA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DE43A6-A743-4B41-9D2A-0A8CBC5EBB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7F887C-D6DD-43F5-B735-783F33F83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DECB4-6CC9-4770-A1B1-F0B476A30F1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23746B-47C9-4118-833E-513C4FFB5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4751E7-D7F9-4528-BFA9-025287E97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DD27-A284-4B50-A92F-74350642F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75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08AE1-3B35-4FB1-9A84-C93F36753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6C6C23-BBCE-461A-B4B9-39C9FD324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DECB4-6CC9-4770-A1B1-F0B476A30F1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012B93-7E47-4929-8BD8-49E57087F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194811-0446-4DC0-97F2-E375B7E82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DD27-A284-4B50-A92F-74350642FB51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0">
            <a:extLst>
              <a:ext uri="{FF2B5EF4-FFF2-40B4-BE49-F238E27FC236}">
                <a16:creationId xmlns:a16="http://schemas.microsoft.com/office/drawing/2014/main" id="{C8DA09A5-5B3D-47B2-A0FE-12512EB49C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333839"/>
            <a:ext cx="1585384" cy="579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4682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EFDF0-30B4-4159-8E5D-6DAF68B68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DECB4-6CC9-4770-A1B1-F0B476A30F1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19D7A5-8707-4E0E-B986-82579084E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3EA3C-DBAB-45CF-8314-75DE5FAA7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DD27-A284-4B50-A92F-74350642F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83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36FEC-DEC5-4624-8F4D-D81EB9066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2D31-D7F5-4F83-ADCD-19A4AE7BA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0C5187-4B23-49FF-B913-3992732CF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92AE1-CE89-40B9-9A7F-0594A9AF4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DECB4-6CC9-4770-A1B1-F0B476A30F1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51A7B-0B81-4832-AB81-9591CA27C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5D88C-25FE-4158-8C21-99F8269C7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DD27-A284-4B50-A92F-74350642F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51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D8E6C-FB5B-4F2F-B83B-22B9587E0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A7A570-1CC5-47D4-81D5-8E18BAF17E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A88BAD-F6E4-45D0-8344-4560C6EB0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A2581-90C6-45F2-8115-9A030EFCC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DECB4-6CC9-4770-A1B1-F0B476A30F1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73B40-E5A3-4215-89E8-1204AFA86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C686F-1495-4D22-A1DB-D7B8B7A7E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DD27-A284-4B50-A92F-74350642F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752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A81C-7451-4ED0-8B2C-8A6F4AE2C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06076-0E69-4AB0-AC3A-095A4DBE0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7C4C9-C70F-4286-B341-74C467558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DECB4-6CC9-4770-A1B1-F0B476A30F1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EC9E1-CB8D-44C8-88BC-CD05785C3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D2B66-72CE-4C18-B15B-EB67BF586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DD27-A284-4B50-A92F-74350642F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76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792B02-2FF3-4E49-9C2D-F3DA0EFAE5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6D6943-3825-481B-A9BF-2467F9432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9643A-E724-4484-9705-A561B3A5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DECB4-6CC9-4770-A1B1-F0B476A30F1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84268-1424-4548-A200-B9FB24A36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0D632-E1AA-49E3-9D02-7E4DEE319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8DD27-A284-4B50-A92F-74350642F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0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2204E8-0FF9-4CDB-A6F2-8B8176645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CD0A1-1A22-44EC-841A-934D84C61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FB1C5-902C-402F-8EFD-01F3B7CAA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DECB4-6CC9-4770-A1B1-F0B476A30F19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E3526-B1B4-4EDC-9633-7A5BF83CD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4E903-476C-4F63-9D53-9FB819FE8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8DD27-A284-4B50-A92F-74350642F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960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ookerstudio.google.com/s/lzQYAhhgMtQ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618594-9E44-B2FD-4535-0A7CF330C7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72" b="22508"/>
          <a:stretch/>
        </p:blipFill>
        <p:spPr>
          <a:xfrm>
            <a:off x="0" y="0"/>
            <a:ext cx="12192000" cy="412990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ECBF56C-A680-770D-4808-14C359BC3F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1" b="36265"/>
          <a:stretch/>
        </p:blipFill>
        <p:spPr>
          <a:xfrm>
            <a:off x="9385190" y="141664"/>
            <a:ext cx="2536182" cy="90553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FC9DDC1-296C-4973-A10B-7C16079DA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9163" y="2665334"/>
            <a:ext cx="9404006" cy="1644034"/>
          </a:xfrm>
          <a:noFill/>
        </p:spPr>
        <p:txBody>
          <a:bodyPr>
            <a:noAutofit/>
          </a:bodyPr>
          <a:lstStyle/>
          <a:p>
            <a:pPr algn="l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Laporan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Data Analis 2025</a:t>
            </a:r>
            <a:endParaRPr lang="en-US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D23EAB-ADE7-CA80-0C9C-065EE69010A6}"/>
              </a:ext>
            </a:extLst>
          </p:cNvPr>
          <p:cNvSpPr txBox="1"/>
          <p:nvPr/>
        </p:nvSpPr>
        <p:spPr>
          <a:xfrm>
            <a:off x="1008768" y="6055895"/>
            <a:ext cx="28486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Disusun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oleh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Tim Data </a:t>
            </a:r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Analis</a:t>
            </a: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Sidoarjo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, ….. Juni 2025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F1734D-D152-0AF5-6CBB-57C8EFAB7945}"/>
              </a:ext>
            </a:extLst>
          </p:cNvPr>
          <p:cNvSpPr txBox="1"/>
          <p:nvPr/>
        </p:nvSpPr>
        <p:spPr>
          <a:xfrm>
            <a:off x="985908" y="4145902"/>
            <a:ext cx="7576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err="1">
                <a:latin typeface="Arial" panose="020B0604020202020204" pitchFamily="34" charset="0"/>
                <a:cs typeface="Arial" panose="020B0604020202020204" pitchFamily="34" charset="0"/>
              </a:rPr>
              <a:t>Januari</a:t>
            </a: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s-ES" sz="3200" dirty="0" err="1">
                <a:latin typeface="Arial" panose="020B0604020202020204" pitchFamily="34" charset="0"/>
                <a:cs typeface="Arial" panose="020B0604020202020204" pitchFamily="34" charset="0"/>
              </a:rPr>
              <a:t>Desember</a:t>
            </a: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1669730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BD7C46-D789-E03E-E85A-FE6498EF9F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1" b="36265"/>
          <a:stretch/>
        </p:blipFill>
        <p:spPr>
          <a:xfrm>
            <a:off x="9972472" y="207611"/>
            <a:ext cx="2062040" cy="736243"/>
          </a:xfrm>
          <a:prstGeom prst="rect">
            <a:avLst/>
          </a:prstGeom>
        </p:spPr>
      </p:pic>
      <p:sp>
        <p:nvSpPr>
          <p:cNvPr id="13" name="object 3">
            <a:extLst>
              <a:ext uri="{FF2B5EF4-FFF2-40B4-BE49-F238E27FC236}">
                <a16:creationId xmlns:a16="http://schemas.microsoft.com/office/drawing/2014/main" id="{27F84169-432A-97E1-F5F4-60DA6059A1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4152" y="171134"/>
            <a:ext cx="7211108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Overview </a:t>
            </a:r>
            <a:b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Visualisasi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halaman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497D2E56-3D83-E346-8398-F18BB5A4FE91}"/>
              </a:ext>
            </a:extLst>
          </p:cNvPr>
          <p:cNvSpPr txBox="1"/>
          <p:nvPr/>
        </p:nvSpPr>
        <p:spPr>
          <a:xfrm>
            <a:off x="911765" y="1340574"/>
            <a:ext cx="7306405" cy="47525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buNone/>
            </a:pPr>
            <a:r>
              <a:rPr lang="en-US" sz="2800" dirty="0">
                <a:effectLst/>
                <a:latin typeface="Segoe UI" panose="020B0502040204020203" pitchFamily="34" charset="0"/>
              </a:rPr>
              <a:t>Pie chart</a:t>
            </a:r>
          </a:p>
          <a:p>
            <a:pPr>
              <a:buNone/>
            </a:pPr>
            <a:r>
              <a:rPr lang="en-US" sz="2800" dirty="0">
                <a:effectLst/>
                <a:latin typeface="Segoe UI" panose="020B0502040204020203" pitchFamily="34" charset="0"/>
              </a:rPr>
              <a:t>✅ Total </a:t>
            </a:r>
            <a:r>
              <a:rPr lang="en-US" sz="2800" dirty="0" err="1">
                <a:effectLst/>
                <a:latin typeface="Segoe UI" panose="020B0502040204020203" pitchFamily="34" charset="0"/>
              </a:rPr>
              <a:t>donasi</a:t>
            </a:r>
            <a:r>
              <a:rPr lang="en-US" sz="2800" dirty="0">
                <a:effectLst/>
                <a:latin typeface="Segoe UI" panose="020B0502040204020203" pitchFamily="34" charset="0"/>
              </a:rPr>
              <a:t> </a:t>
            </a:r>
            <a:r>
              <a:rPr lang="en-US" sz="2800" dirty="0" err="1">
                <a:effectLst/>
                <a:latin typeface="Segoe UI" panose="020B0502040204020203" pitchFamily="34" charset="0"/>
              </a:rPr>
              <a:t>terkumpul</a:t>
            </a:r>
            <a:r>
              <a:rPr lang="en-US" sz="2800" dirty="0">
                <a:effectLst/>
                <a:latin typeface="Segoe UI" panose="020B0502040204020203" pitchFamily="34" charset="0"/>
              </a:rPr>
              <a:t> (Pie) : Rp </a:t>
            </a:r>
          </a:p>
          <a:p>
            <a:pPr>
              <a:buNone/>
            </a:pPr>
            <a:br>
              <a:rPr lang="en-US" sz="2800" dirty="0">
                <a:effectLst/>
                <a:latin typeface="Arial" panose="020B0604020202020204" pitchFamily="34" charset="0"/>
              </a:rPr>
            </a:br>
            <a:r>
              <a:rPr lang="en-US" sz="2800" dirty="0">
                <a:effectLst/>
                <a:latin typeface="Arial" panose="020B0604020202020204" pitchFamily="34" charset="0"/>
              </a:rPr>
              <a:t>diagram </a:t>
            </a:r>
            <a:r>
              <a:rPr lang="en-US" sz="2800" dirty="0" err="1">
                <a:effectLst/>
                <a:latin typeface="Arial" panose="020B0604020202020204" pitchFamily="34" charset="0"/>
              </a:rPr>
              <a:t>batang</a:t>
            </a:r>
            <a:endParaRPr lang="en-US" sz="28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2800" dirty="0">
                <a:effectLst/>
                <a:latin typeface="Segoe UI" panose="020B0502040204020203" pitchFamily="34" charset="0"/>
              </a:rPr>
              <a:t>✅ </a:t>
            </a:r>
            <a:r>
              <a:rPr lang="en-US" sz="2800" dirty="0" err="1">
                <a:effectLst/>
                <a:latin typeface="Segoe UI" panose="020B0502040204020203" pitchFamily="34" charset="0"/>
              </a:rPr>
              <a:t>Donatur</a:t>
            </a:r>
            <a:r>
              <a:rPr lang="en-US" sz="2800" dirty="0">
                <a:effectLst/>
                <a:latin typeface="Segoe UI" panose="020B0502040204020203" pitchFamily="34" charset="0"/>
              </a:rPr>
              <a:t> </a:t>
            </a:r>
            <a:r>
              <a:rPr lang="en-US" sz="2800" dirty="0" err="1">
                <a:effectLst/>
                <a:latin typeface="Segoe UI" panose="020B0502040204020203" pitchFamily="34" charset="0"/>
              </a:rPr>
              <a:t>aktif</a:t>
            </a:r>
            <a:r>
              <a:rPr lang="en-US" sz="2800" dirty="0">
                <a:effectLst/>
                <a:latin typeface="Segoe UI" panose="020B0502040204020203" pitchFamily="34" charset="0"/>
              </a:rPr>
              <a:t>: 7909 orang</a:t>
            </a:r>
          </a:p>
          <a:p>
            <a:pPr>
              <a:buNone/>
            </a:pPr>
            <a:r>
              <a:rPr lang="en-US" sz="2800" dirty="0">
                <a:effectLst/>
                <a:latin typeface="Segoe UI" panose="020B0502040204020203" pitchFamily="34" charset="0"/>
              </a:rPr>
              <a:t>✅ </a:t>
            </a:r>
            <a:r>
              <a:rPr lang="en-US" sz="2800" dirty="0" err="1">
                <a:effectLst/>
                <a:latin typeface="Segoe UI" panose="020B0502040204020203" pitchFamily="34" charset="0"/>
              </a:rPr>
              <a:t>Donatur</a:t>
            </a:r>
            <a:r>
              <a:rPr lang="en-US" sz="2800" dirty="0">
                <a:effectLst/>
                <a:latin typeface="Segoe UI" panose="020B0502040204020203" pitchFamily="34" charset="0"/>
              </a:rPr>
              <a:t> loyal: </a:t>
            </a:r>
            <a:r>
              <a:rPr lang="en-US" sz="2800" dirty="0">
                <a:latin typeface="Segoe UI" panose="020B0502040204020203" pitchFamily="34" charset="0"/>
              </a:rPr>
              <a:t>0</a:t>
            </a:r>
            <a:r>
              <a:rPr lang="en-US" sz="2800" dirty="0">
                <a:effectLst/>
                <a:latin typeface="Segoe UI" panose="020B0502040204020203" pitchFamily="34" charset="0"/>
              </a:rPr>
              <a:t> orang</a:t>
            </a:r>
            <a:endParaRPr lang="en-US" sz="28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2800" dirty="0">
                <a:effectLst/>
                <a:latin typeface="Segoe UI" panose="020B0502040204020203" pitchFamily="34" charset="0"/>
              </a:rPr>
              <a:t>✅ </a:t>
            </a:r>
            <a:r>
              <a:rPr lang="en-US" sz="2800" dirty="0" err="1">
                <a:effectLst/>
                <a:latin typeface="Segoe UI" panose="020B0502040204020203" pitchFamily="34" charset="0"/>
              </a:rPr>
              <a:t>Donatur</a:t>
            </a:r>
            <a:r>
              <a:rPr lang="en-US" sz="2800" dirty="0">
                <a:effectLst/>
                <a:latin typeface="Segoe UI" panose="020B0502040204020203" pitchFamily="34" charset="0"/>
              </a:rPr>
              <a:t> </a:t>
            </a:r>
            <a:r>
              <a:rPr lang="en-US" sz="2800" dirty="0" err="1">
                <a:effectLst/>
                <a:latin typeface="Segoe UI" panose="020B0502040204020203" pitchFamily="34" charset="0"/>
              </a:rPr>
              <a:t>baru</a:t>
            </a:r>
            <a:r>
              <a:rPr lang="en-US" sz="2800" dirty="0">
                <a:effectLst/>
                <a:latin typeface="Segoe UI" panose="020B0502040204020203" pitchFamily="34" charset="0"/>
              </a:rPr>
              <a:t>: 7909 Orang</a:t>
            </a:r>
          </a:p>
          <a:p>
            <a:pPr>
              <a:buNone/>
            </a:pPr>
            <a:br>
              <a:rPr lang="en-US" sz="2800" dirty="0">
                <a:effectLst/>
                <a:latin typeface="Arial" panose="020B0604020202020204" pitchFamily="34" charset="0"/>
              </a:rPr>
            </a:br>
            <a:r>
              <a:rPr lang="en-US" sz="2800" dirty="0" err="1">
                <a:effectLst/>
                <a:latin typeface="Arial" panose="020B0604020202020204" pitchFamily="34" charset="0"/>
              </a:rPr>
              <a:t>tabel</a:t>
            </a:r>
            <a:endParaRPr lang="en-US" sz="28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2800" dirty="0">
                <a:effectLst/>
                <a:latin typeface="Segoe UI" panose="020B0502040204020203" pitchFamily="34" charset="0"/>
              </a:rPr>
              <a:t>✅ Top 3 Campaign: </a:t>
            </a:r>
          </a:p>
          <a:p>
            <a:pPr>
              <a:buNone/>
            </a:pPr>
            <a:r>
              <a:rPr lang="en-US" sz="2800" dirty="0">
                <a:effectLst/>
                <a:latin typeface="Segoe UI" panose="020B0502040204020203" pitchFamily="34" charset="0"/>
              </a:rPr>
              <a:t>✅ Top 3 Channel </a:t>
            </a:r>
            <a:r>
              <a:rPr lang="en-US" sz="2800" dirty="0" err="1">
                <a:effectLst/>
                <a:latin typeface="Segoe UI" panose="020B0502040204020203" pitchFamily="34" charset="0"/>
              </a:rPr>
              <a:t>Pembayaran</a:t>
            </a:r>
            <a:r>
              <a:rPr lang="en-US" sz="2800" dirty="0">
                <a:effectLst/>
                <a:latin typeface="Segoe UI" panose="020B0502040204020203" pitchFamily="34" charset="0"/>
              </a:rPr>
              <a:t>:</a:t>
            </a:r>
            <a:endParaRPr lang="en-US" sz="280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EAC7BF-9CDB-DF7E-50C4-CADD10F25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0629" y="1579956"/>
            <a:ext cx="4818475" cy="481847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71291A1-822B-D8D6-7541-864D0AEC1A15}"/>
              </a:ext>
            </a:extLst>
          </p:cNvPr>
          <p:cNvGrpSpPr/>
          <p:nvPr/>
        </p:nvGrpSpPr>
        <p:grpSpPr>
          <a:xfrm>
            <a:off x="-10584" y="0"/>
            <a:ext cx="336551" cy="6858000"/>
            <a:chOff x="-10584" y="0"/>
            <a:chExt cx="336551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955F788-7115-4DCA-BAD8-20EFF4C7483D}"/>
                </a:ext>
              </a:extLst>
            </p:cNvPr>
            <p:cNvSpPr/>
            <p:nvPr/>
          </p:nvSpPr>
          <p:spPr>
            <a:xfrm>
              <a:off x="-10584" y="0"/>
              <a:ext cx="336551" cy="575733"/>
            </a:xfrm>
            <a:prstGeom prst="rect">
              <a:avLst/>
            </a:prstGeom>
            <a:solidFill>
              <a:srgbClr val="213F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88E78BC-D7F5-44ED-8986-518B33FB6863}"/>
                </a:ext>
              </a:extLst>
            </p:cNvPr>
            <p:cNvSpPr/>
            <p:nvPr/>
          </p:nvSpPr>
          <p:spPr>
            <a:xfrm>
              <a:off x="0" y="575733"/>
              <a:ext cx="101600" cy="6282267"/>
            </a:xfrm>
            <a:prstGeom prst="rect">
              <a:avLst/>
            </a:prstGeom>
            <a:solidFill>
              <a:srgbClr val="01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1FEEBA5-6597-96AA-6DC0-1CD65F10AEF9}"/>
              </a:ext>
            </a:extLst>
          </p:cNvPr>
          <p:cNvSpPr txBox="1"/>
          <p:nvPr/>
        </p:nvSpPr>
        <p:spPr>
          <a:xfrm>
            <a:off x="10470995" y="6398431"/>
            <a:ext cx="1594625" cy="3815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1</a:t>
            </a:r>
          </a:p>
        </p:txBody>
      </p:sp>
    </p:spTree>
    <p:extLst>
      <p:ext uri="{BB962C8B-B14F-4D97-AF65-F5344CB8AC3E}">
        <p14:creationId xmlns:p14="http://schemas.microsoft.com/office/powerpoint/2010/main" val="2762166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1459AFD-3AD0-F7DC-E2C0-EAEC5B104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3">
            <a:extLst>
              <a:ext uri="{FF2B5EF4-FFF2-40B4-BE49-F238E27FC236}">
                <a16:creationId xmlns:a16="http://schemas.microsoft.com/office/drawing/2014/main" id="{0D967B82-5087-A7ED-3A83-153530E2DE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4152" y="309633"/>
            <a:ext cx="721110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Overview </a:t>
            </a: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E2F8C1-2ABE-D3DF-3BC8-A4474C2EC8CC}"/>
              </a:ext>
            </a:extLst>
          </p:cNvPr>
          <p:cNvSpPr txBox="1"/>
          <p:nvPr/>
        </p:nvSpPr>
        <p:spPr>
          <a:xfrm>
            <a:off x="10470995" y="6398431"/>
            <a:ext cx="1594625" cy="3815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080333-4415-1F9C-4BD6-1D463419AD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1" b="36265"/>
          <a:stretch/>
        </p:blipFill>
        <p:spPr>
          <a:xfrm>
            <a:off x="9972472" y="207611"/>
            <a:ext cx="2062040" cy="73624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2A676CF-79F2-0967-403D-CD2BECCD0509}"/>
              </a:ext>
            </a:extLst>
          </p:cNvPr>
          <p:cNvGrpSpPr/>
          <p:nvPr/>
        </p:nvGrpSpPr>
        <p:grpSpPr>
          <a:xfrm>
            <a:off x="-10584" y="0"/>
            <a:ext cx="336551" cy="6858000"/>
            <a:chOff x="-10584" y="0"/>
            <a:chExt cx="336551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6E636D1-32BE-C9D2-55CD-7CC26E5EE0DC}"/>
                </a:ext>
              </a:extLst>
            </p:cNvPr>
            <p:cNvSpPr/>
            <p:nvPr/>
          </p:nvSpPr>
          <p:spPr>
            <a:xfrm>
              <a:off x="-10584" y="0"/>
              <a:ext cx="336551" cy="575733"/>
            </a:xfrm>
            <a:prstGeom prst="rect">
              <a:avLst/>
            </a:prstGeom>
            <a:solidFill>
              <a:srgbClr val="213F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277D6A7-942A-54B3-0055-DE1BD821772C}"/>
                </a:ext>
              </a:extLst>
            </p:cNvPr>
            <p:cNvSpPr/>
            <p:nvPr/>
          </p:nvSpPr>
          <p:spPr>
            <a:xfrm>
              <a:off x="0" y="575733"/>
              <a:ext cx="101600" cy="6282267"/>
            </a:xfrm>
            <a:prstGeom prst="rect">
              <a:avLst/>
            </a:prstGeom>
            <a:solidFill>
              <a:srgbClr val="01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</p:grpSp>
      <p:pic>
        <p:nvPicPr>
          <p:cNvPr id="9" name="Picture 8">
            <a:hlinkClick r:id="rId3"/>
            <a:extLst>
              <a:ext uri="{FF2B5EF4-FFF2-40B4-BE49-F238E27FC236}">
                <a16:creationId xmlns:a16="http://schemas.microsoft.com/office/drawing/2014/main" id="{4781E1DA-0818-767D-738E-884778FFA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9535" y="1029659"/>
            <a:ext cx="9152930" cy="555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576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078E2A4-92A9-E50A-6361-6A56FA48B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73E813-659A-5913-8331-2047C0A47068}"/>
              </a:ext>
            </a:extLst>
          </p:cNvPr>
          <p:cNvSpPr txBox="1"/>
          <p:nvPr/>
        </p:nvSpPr>
        <p:spPr>
          <a:xfrm>
            <a:off x="1601948" y="227632"/>
            <a:ext cx="898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Capaian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Donasi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Januari-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Desember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  <a:endParaRPr lang="id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E7F00E-5203-9E95-C943-F623A7409EA4}"/>
              </a:ext>
            </a:extLst>
          </p:cNvPr>
          <p:cNvSpPr txBox="1"/>
          <p:nvPr/>
        </p:nvSpPr>
        <p:spPr>
          <a:xfrm>
            <a:off x="10470995" y="6398431"/>
            <a:ext cx="1594625" cy="3815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883024-F77F-92C4-364B-7FD0D5EA75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1" b="36265"/>
          <a:stretch/>
        </p:blipFill>
        <p:spPr>
          <a:xfrm>
            <a:off x="9972472" y="207611"/>
            <a:ext cx="2062040" cy="73624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9623641-102A-2215-379C-CA1647A48446}"/>
              </a:ext>
            </a:extLst>
          </p:cNvPr>
          <p:cNvGrpSpPr/>
          <p:nvPr/>
        </p:nvGrpSpPr>
        <p:grpSpPr>
          <a:xfrm>
            <a:off x="-10584" y="0"/>
            <a:ext cx="336551" cy="6858000"/>
            <a:chOff x="-10584" y="0"/>
            <a:chExt cx="336551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BB243A1-9C45-48FE-BB80-230C475B6AE8}"/>
                </a:ext>
              </a:extLst>
            </p:cNvPr>
            <p:cNvSpPr/>
            <p:nvPr/>
          </p:nvSpPr>
          <p:spPr>
            <a:xfrm>
              <a:off x="-10584" y="0"/>
              <a:ext cx="336551" cy="575733"/>
            </a:xfrm>
            <a:prstGeom prst="rect">
              <a:avLst/>
            </a:prstGeom>
            <a:solidFill>
              <a:srgbClr val="213F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EFF0D24-B31D-BC9A-C79D-06F15F97D12D}"/>
                </a:ext>
              </a:extLst>
            </p:cNvPr>
            <p:cNvSpPr/>
            <p:nvPr/>
          </p:nvSpPr>
          <p:spPr>
            <a:xfrm>
              <a:off x="0" y="575733"/>
              <a:ext cx="101600" cy="6282267"/>
            </a:xfrm>
            <a:prstGeom prst="rect">
              <a:avLst/>
            </a:prstGeom>
            <a:solidFill>
              <a:srgbClr val="01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8826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58222BF-9B0F-3CA7-932B-A898D764E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3">
            <a:extLst>
              <a:ext uri="{FF2B5EF4-FFF2-40B4-BE49-F238E27FC236}">
                <a16:creationId xmlns:a16="http://schemas.microsoft.com/office/drawing/2014/main" id="{ED76D16C-BC8F-7A20-0E0D-979D9C39A5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7012" y="215453"/>
            <a:ext cx="721110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Overview (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Visualisasi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data)</a:t>
            </a:r>
            <a:endParaRPr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DB8EC9DC-D5EE-BF55-8173-0B68DE906EE3}"/>
              </a:ext>
            </a:extLst>
          </p:cNvPr>
          <p:cNvSpPr txBox="1">
            <a:spLocks/>
          </p:cNvSpPr>
          <p:nvPr/>
        </p:nvSpPr>
        <p:spPr>
          <a:xfrm>
            <a:off x="607012" y="773702"/>
            <a:ext cx="7211108" cy="44371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Capaian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donasi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minggu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ini 2 – 8 Juni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3F019F-AE58-ADA3-C965-039F1039A5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189800"/>
              </p:ext>
            </p:extLst>
          </p:nvPr>
        </p:nvGraphicFramePr>
        <p:xfrm>
          <a:off x="607013" y="2233506"/>
          <a:ext cx="6244638" cy="292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81546">
                  <a:extLst>
                    <a:ext uri="{9D8B030D-6E8A-4147-A177-3AD203B41FA5}">
                      <a16:colId xmlns:a16="http://schemas.microsoft.com/office/drawing/2014/main" val="503123958"/>
                    </a:ext>
                  </a:extLst>
                </a:gridCol>
                <a:gridCol w="2081546">
                  <a:extLst>
                    <a:ext uri="{9D8B030D-6E8A-4147-A177-3AD203B41FA5}">
                      <a16:colId xmlns:a16="http://schemas.microsoft.com/office/drawing/2014/main" val="2523353424"/>
                    </a:ext>
                  </a:extLst>
                </a:gridCol>
                <a:gridCol w="2081546">
                  <a:extLst>
                    <a:ext uri="{9D8B030D-6E8A-4147-A177-3AD203B41FA5}">
                      <a16:colId xmlns:a16="http://schemas.microsoft.com/office/drawing/2014/main" val="3423100471"/>
                    </a:ext>
                  </a:extLst>
                </a:gridCol>
              </a:tblGrid>
              <a:tr h="31088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Hari</a:t>
                      </a:r>
                    </a:p>
                  </a:txBody>
                  <a:tcPr marL="91101" marR="91101" marT="45550" marB="45550"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Donatur</a:t>
                      </a:r>
                      <a:endParaRPr lang="en-US" sz="1800" dirty="0"/>
                    </a:p>
                  </a:txBody>
                  <a:tcPr marL="91101" marR="91101" marT="45550" marB="45550"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Total </a:t>
                      </a:r>
                      <a:r>
                        <a:rPr lang="en-US" sz="1800" dirty="0" err="1"/>
                        <a:t>Donasi</a:t>
                      </a:r>
                      <a:r>
                        <a:rPr lang="en-US" sz="1800" dirty="0"/>
                        <a:t> (Rp)</a:t>
                      </a:r>
                    </a:p>
                  </a:txBody>
                  <a:tcPr marL="91101" marR="91101" marT="45550" marB="45550"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26819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Senin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98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Rp12.861.625 </a:t>
                      </a:r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214521036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Selasa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142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Rp17.226.914 </a:t>
                      </a:r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839274487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Rabu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262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Rp30.608.813 </a:t>
                      </a:r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4162149561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Kamis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327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Rp39.502.557 </a:t>
                      </a:r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3220010324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Jumat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302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Rp34.724.622 </a:t>
                      </a:r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3182763809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Sabtu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161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Rp17.329.406 </a:t>
                      </a:r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1647278889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 err="1"/>
                        <a:t>Minggu</a:t>
                      </a:r>
                      <a:endParaRPr lang="en-US" sz="1800" dirty="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165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Rp16.129.489 </a:t>
                      </a:r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401329296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B3E8C72-A4B2-439A-46E6-78925E881B47}"/>
              </a:ext>
            </a:extLst>
          </p:cNvPr>
          <p:cNvSpPr txBox="1"/>
          <p:nvPr/>
        </p:nvSpPr>
        <p:spPr>
          <a:xfrm>
            <a:off x="10470995" y="6398431"/>
            <a:ext cx="1594625" cy="3815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6EA050D-D46D-120C-160B-3ECC49B04D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1" b="36265"/>
          <a:stretch/>
        </p:blipFill>
        <p:spPr>
          <a:xfrm>
            <a:off x="9972472" y="207611"/>
            <a:ext cx="2062040" cy="736243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4F4BFED-5BC9-2251-56B7-10AEA93E4DF7}"/>
              </a:ext>
            </a:extLst>
          </p:cNvPr>
          <p:cNvGrpSpPr/>
          <p:nvPr/>
        </p:nvGrpSpPr>
        <p:grpSpPr>
          <a:xfrm>
            <a:off x="-10584" y="0"/>
            <a:ext cx="336551" cy="6858000"/>
            <a:chOff x="-10584" y="0"/>
            <a:chExt cx="336551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1A80DD6-03CA-D6CE-FEDA-E61628E7D451}"/>
                </a:ext>
              </a:extLst>
            </p:cNvPr>
            <p:cNvSpPr/>
            <p:nvPr/>
          </p:nvSpPr>
          <p:spPr>
            <a:xfrm>
              <a:off x="-10584" y="0"/>
              <a:ext cx="336551" cy="575733"/>
            </a:xfrm>
            <a:prstGeom prst="rect">
              <a:avLst/>
            </a:prstGeom>
            <a:solidFill>
              <a:srgbClr val="213F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C822E1-D58B-5FA6-B45A-C14C2495C07A}"/>
                </a:ext>
              </a:extLst>
            </p:cNvPr>
            <p:cNvSpPr/>
            <p:nvPr/>
          </p:nvSpPr>
          <p:spPr>
            <a:xfrm>
              <a:off x="0" y="575733"/>
              <a:ext cx="101600" cy="6282267"/>
            </a:xfrm>
            <a:prstGeom prst="rect">
              <a:avLst/>
            </a:prstGeom>
            <a:solidFill>
              <a:srgbClr val="01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65AC087-D1DE-1347-E32F-43A8E9D2A0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8164830"/>
              </p:ext>
            </p:extLst>
          </p:nvPr>
        </p:nvGraphicFramePr>
        <p:xfrm>
          <a:off x="7100391" y="2299542"/>
          <a:ext cx="470855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95147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D560F7-CFAB-25CA-05B7-4054A07D4B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F2F2EA9-A1B0-0971-67B2-62F8180D7868}"/>
              </a:ext>
            </a:extLst>
          </p:cNvPr>
          <p:cNvSpPr/>
          <p:nvPr/>
        </p:nvSpPr>
        <p:spPr>
          <a:xfrm>
            <a:off x="0" y="0"/>
            <a:ext cx="7137400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12892" y="2375333"/>
            <a:ext cx="5688258" cy="2070099"/>
          </a:xfrm>
        </p:spPr>
        <p:txBody>
          <a:bodyPr anchor="ctr">
            <a:no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66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Data</a:t>
            </a:r>
            <a:br>
              <a:rPr lang="en-US" altLang="en-US" sz="66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n-US" altLang="en-US" sz="6600" dirty="0" err="1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Donatur</a:t>
            </a:r>
            <a:endParaRPr lang="id-ID" altLang="en-US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495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966C275-B4BC-1F42-6435-0E241B59394B}"/>
              </a:ext>
            </a:extLst>
          </p:cNvPr>
          <p:cNvSpPr txBox="1"/>
          <p:nvPr/>
        </p:nvSpPr>
        <p:spPr>
          <a:xfrm>
            <a:off x="1601948" y="227632"/>
            <a:ext cx="898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Donatur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Web</a:t>
            </a:r>
          </a:p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Januari-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Desember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  <a:endParaRPr lang="id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A7C718-7629-CE66-8A5B-AB2716FBD24F}"/>
              </a:ext>
            </a:extLst>
          </p:cNvPr>
          <p:cNvSpPr txBox="1"/>
          <p:nvPr/>
        </p:nvSpPr>
        <p:spPr>
          <a:xfrm>
            <a:off x="10470995" y="6398431"/>
            <a:ext cx="1594625" cy="3815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ACD3CF-9454-59C9-65A6-8F39154B30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1" b="36265"/>
          <a:stretch/>
        </p:blipFill>
        <p:spPr>
          <a:xfrm>
            <a:off x="9972472" y="207611"/>
            <a:ext cx="2062040" cy="73624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E98BBF0-B412-5B46-9F9D-87600838D951}"/>
              </a:ext>
            </a:extLst>
          </p:cNvPr>
          <p:cNvGrpSpPr/>
          <p:nvPr/>
        </p:nvGrpSpPr>
        <p:grpSpPr>
          <a:xfrm>
            <a:off x="-10584" y="0"/>
            <a:ext cx="336551" cy="6858000"/>
            <a:chOff x="-10584" y="0"/>
            <a:chExt cx="336551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4728D1B-27C8-86F1-5843-C1DDBBAA6762}"/>
                </a:ext>
              </a:extLst>
            </p:cNvPr>
            <p:cNvSpPr/>
            <p:nvPr/>
          </p:nvSpPr>
          <p:spPr>
            <a:xfrm>
              <a:off x="-10584" y="0"/>
              <a:ext cx="336551" cy="575733"/>
            </a:xfrm>
            <a:prstGeom prst="rect">
              <a:avLst/>
            </a:prstGeom>
            <a:solidFill>
              <a:srgbClr val="213F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4EEB04F-A4EE-A1A5-1B57-83D6E850E51D}"/>
                </a:ext>
              </a:extLst>
            </p:cNvPr>
            <p:cNvSpPr/>
            <p:nvPr/>
          </p:nvSpPr>
          <p:spPr>
            <a:xfrm>
              <a:off x="0" y="575733"/>
              <a:ext cx="101600" cy="6282267"/>
            </a:xfrm>
            <a:prstGeom prst="rect">
              <a:avLst/>
            </a:prstGeom>
            <a:solidFill>
              <a:srgbClr val="01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958816-2033-C7F9-2753-8F1ED5A55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372178"/>
              </p:ext>
            </p:extLst>
          </p:nvPr>
        </p:nvGraphicFramePr>
        <p:xfrm>
          <a:off x="966537" y="1934602"/>
          <a:ext cx="10515600" cy="149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9023">
                  <a:extLst>
                    <a:ext uri="{9D8B030D-6E8A-4147-A177-3AD203B41FA5}">
                      <a16:colId xmlns:a16="http://schemas.microsoft.com/office/drawing/2014/main" val="163116945"/>
                    </a:ext>
                  </a:extLst>
                </a:gridCol>
                <a:gridCol w="718477">
                  <a:extLst>
                    <a:ext uri="{9D8B030D-6E8A-4147-A177-3AD203B41FA5}">
                      <a16:colId xmlns:a16="http://schemas.microsoft.com/office/drawing/2014/main" val="3160518433"/>
                    </a:ext>
                  </a:extLst>
                </a:gridCol>
                <a:gridCol w="857130">
                  <a:extLst>
                    <a:ext uri="{9D8B030D-6E8A-4147-A177-3AD203B41FA5}">
                      <a16:colId xmlns:a16="http://schemas.microsoft.com/office/drawing/2014/main" val="2668559929"/>
                    </a:ext>
                  </a:extLst>
                </a:gridCol>
                <a:gridCol w="995783">
                  <a:extLst>
                    <a:ext uri="{9D8B030D-6E8A-4147-A177-3AD203B41FA5}">
                      <a16:colId xmlns:a16="http://schemas.microsoft.com/office/drawing/2014/main" val="2946383296"/>
                    </a:ext>
                  </a:extLst>
                </a:gridCol>
                <a:gridCol w="995783">
                  <a:extLst>
                    <a:ext uri="{9D8B030D-6E8A-4147-A177-3AD203B41FA5}">
                      <a16:colId xmlns:a16="http://schemas.microsoft.com/office/drawing/2014/main" val="1969359803"/>
                    </a:ext>
                  </a:extLst>
                </a:gridCol>
                <a:gridCol w="995783">
                  <a:extLst>
                    <a:ext uri="{9D8B030D-6E8A-4147-A177-3AD203B41FA5}">
                      <a16:colId xmlns:a16="http://schemas.microsoft.com/office/drawing/2014/main" val="549053895"/>
                    </a:ext>
                  </a:extLst>
                </a:gridCol>
                <a:gridCol w="932759">
                  <a:extLst>
                    <a:ext uri="{9D8B030D-6E8A-4147-A177-3AD203B41FA5}">
                      <a16:colId xmlns:a16="http://schemas.microsoft.com/office/drawing/2014/main" val="315758569"/>
                    </a:ext>
                  </a:extLst>
                </a:gridCol>
                <a:gridCol w="718477">
                  <a:extLst>
                    <a:ext uri="{9D8B030D-6E8A-4147-A177-3AD203B41FA5}">
                      <a16:colId xmlns:a16="http://schemas.microsoft.com/office/drawing/2014/main" val="2634907735"/>
                    </a:ext>
                  </a:extLst>
                </a:gridCol>
                <a:gridCol w="718477">
                  <a:extLst>
                    <a:ext uri="{9D8B030D-6E8A-4147-A177-3AD203B41FA5}">
                      <a16:colId xmlns:a16="http://schemas.microsoft.com/office/drawing/2014/main" val="853242399"/>
                    </a:ext>
                  </a:extLst>
                </a:gridCol>
                <a:gridCol w="718477">
                  <a:extLst>
                    <a:ext uri="{9D8B030D-6E8A-4147-A177-3AD203B41FA5}">
                      <a16:colId xmlns:a16="http://schemas.microsoft.com/office/drawing/2014/main" val="2467724800"/>
                    </a:ext>
                  </a:extLst>
                </a:gridCol>
                <a:gridCol w="718477">
                  <a:extLst>
                    <a:ext uri="{9D8B030D-6E8A-4147-A177-3AD203B41FA5}">
                      <a16:colId xmlns:a16="http://schemas.microsoft.com/office/drawing/2014/main" val="1253415434"/>
                    </a:ext>
                  </a:extLst>
                </a:gridCol>
                <a:gridCol w="718477">
                  <a:extLst>
                    <a:ext uri="{9D8B030D-6E8A-4147-A177-3AD203B41FA5}">
                      <a16:colId xmlns:a16="http://schemas.microsoft.com/office/drawing/2014/main" val="3642052235"/>
                    </a:ext>
                  </a:extLst>
                </a:gridCol>
                <a:gridCol w="718477">
                  <a:extLst>
                    <a:ext uri="{9D8B030D-6E8A-4147-A177-3AD203B41FA5}">
                      <a16:colId xmlns:a16="http://schemas.microsoft.com/office/drawing/2014/main" val="2011362532"/>
                    </a:ext>
                  </a:extLst>
                </a:gridCol>
              </a:tblGrid>
              <a:tr h="298880">
                <a:tc>
                  <a:txBody>
                    <a:bodyPr/>
                    <a:lstStyle/>
                    <a:p>
                      <a:pPr algn="ctr" fontAlgn="b"/>
                      <a:endParaRPr lang="en-ID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January</a:t>
                      </a:r>
                      <a:endParaRPr lang="en-ID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Feb</a:t>
                      </a:r>
                      <a:endParaRPr lang="en-ID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Mar</a:t>
                      </a:r>
                      <a:endParaRPr lang="en-ID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Apr</a:t>
                      </a:r>
                      <a:endParaRPr lang="en-ID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May</a:t>
                      </a:r>
                      <a:endParaRPr lang="en-ID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Jun</a:t>
                      </a:r>
                      <a:endParaRPr lang="en-ID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Jul</a:t>
                      </a:r>
                      <a:endParaRPr lang="en-ID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Aug</a:t>
                      </a:r>
                      <a:endParaRPr lang="en-ID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Sep</a:t>
                      </a:r>
                      <a:endParaRPr lang="en-ID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Oct</a:t>
                      </a:r>
                      <a:endParaRPr lang="en-ID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Nov</a:t>
                      </a:r>
                      <a:endParaRPr lang="en-ID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Dec</a:t>
                      </a:r>
                      <a:endParaRPr lang="en-ID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217076"/>
                  </a:ext>
                </a:extLst>
              </a:tr>
              <a:tr h="298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Himpunan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            -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2.388.213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136.040.617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551.644.336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589.967.944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42.852.347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            -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            -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            -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            -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            -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            -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extLst>
                  <a:ext uri="{0D108BD9-81ED-4DB2-BD59-A6C34878D82A}">
                    <a16:rowId xmlns:a16="http://schemas.microsoft.com/office/drawing/2014/main" val="1079363196"/>
                  </a:ext>
                </a:extLst>
              </a:tr>
              <a:tr h="298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Success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            -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1.060.240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106.929.650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448.162.382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445.944.098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22.894.543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            -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            -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            -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            -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            -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            -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extLst>
                  <a:ext uri="{0D108BD9-81ED-4DB2-BD59-A6C34878D82A}">
                    <a16:rowId xmlns:a16="http://schemas.microsoft.com/office/drawing/2014/main" val="164582309"/>
                  </a:ext>
                </a:extLst>
              </a:tr>
              <a:tr h="298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Waiting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            -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1.327.973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  29.110.967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103.481.954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144.023.846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19.957.804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            -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            -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            -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            -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            -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 Rp              - 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extLst>
                  <a:ext uri="{0D108BD9-81ED-4DB2-BD59-A6C34878D82A}">
                    <a16:rowId xmlns:a16="http://schemas.microsoft.com/office/drawing/2014/main" val="2031401656"/>
                  </a:ext>
                </a:extLst>
              </a:tr>
              <a:tr h="298880"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u="none" strike="noStrike">
                          <a:effectLst/>
                        </a:rPr>
                        <a:t>% CR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0%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44%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79%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81%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76%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53%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0%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0%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0%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0%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>
                          <a:effectLst/>
                        </a:rPr>
                        <a:t>0%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u="none" strike="noStrike" dirty="0">
                          <a:effectLst/>
                        </a:rPr>
                        <a:t>0%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6" marR="9456" marT="9456" marB="0" anchor="b"/>
                </a:tc>
                <a:extLst>
                  <a:ext uri="{0D108BD9-81ED-4DB2-BD59-A6C34878D82A}">
                    <a16:rowId xmlns:a16="http://schemas.microsoft.com/office/drawing/2014/main" val="195449996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F0541EC-B07F-1A1A-0043-AB3C8B90E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6926" y="3916786"/>
            <a:ext cx="5914822" cy="24169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21410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44FCC20-372F-9BCE-7A5B-634103520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82BBBA-BF6D-D849-93DD-9EFDC1DF9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465045"/>
              </p:ext>
            </p:extLst>
          </p:nvPr>
        </p:nvGraphicFramePr>
        <p:xfrm>
          <a:off x="901697" y="2313490"/>
          <a:ext cx="10539731" cy="2227990"/>
        </p:xfrm>
        <a:graphic>
          <a:graphicData uri="http://schemas.openxmlformats.org/drawingml/2006/table">
            <a:tbl>
              <a:tblPr/>
              <a:tblGrid>
                <a:gridCol w="1392593">
                  <a:extLst>
                    <a:ext uri="{9D8B030D-6E8A-4147-A177-3AD203B41FA5}">
                      <a16:colId xmlns:a16="http://schemas.microsoft.com/office/drawing/2014/main" val="3515491374"/>
                    </a:ext>
                  </a:extLst>
                </a:gridCol>
                <a:gridCol w="703626">
                  <a:extLst>
                    <a:ext uri="{9D8B030D-6E8A-4147-A177-3AD203B41FA5}">
                      <a16:colId xmlns:a16="http://schemas.microsoft.com/office/drawing/2014/main" val="1957413026"/>
                    </a:ext>
                  </a:extLst>
                </a:gridCol>
                <a:gridCol w="703626">
                  <a:extLst>
                    <a:ext uri="{9D8B030D-6E8A-4147-A177-3AD203B41FA5}">
                      <a16:colId xmlns:a16="http://schemas.microsoft.com/office/drawing/2014/main" val="836503140"/>
                    </a:ext>
                  </a:extLst>
                </a:gridCol>
                <a:gridCol w="703626">
                  <a:extLst>
                    <a:ext uri="{9D8B030D-6E8A-4147-A177-3AD203B41FA5}">
                      <a16:colId xmlns:a16="http://schemas.microsoft.com/office/drawing/2014/main" val="3089238302"/>
                    </a:ext>
                  </a:extLst>
                </a:gridCol>
                <a:gridCol w="703626">
                  <a:extLst>
                    <a:ext uri="{9D8B030D-6E8A-4147-A177-3AD203B41FA5}">
                      <a16:colId xmlns:a16="http://schemas.microsoft.com/office/drawing/2014/main" val="2866848756"/>
                    </a:ext>
                  </a:extLst>
                </a:gridCol>
                <a:gridCol w="703626">
                  <a:extLst>
                    <a:ext uri="{9D8B030D-6E8A-4147-A177-3AD203B41FA5}">
                      <a16:colId xmlns:a16="http://schemas.microsoft.com/office/drawing/2014/main" val="507844546"/>
                    </a:ext>
                  </a:extLst>
                </a:gridCol>
                <a:gridCol w="703626">
                  <a:extLst>
                    <a:ext uri="{9D8B030D-6E8A-4147-A177-3AD203B41FA5}">
                      <a16:colId xmlns:a16="http://schemas.microsoft.com/office/drawing/2014/main" val="298569399"/>
                    </a:ext>
                  </a:extLst>
                </a:gridCol>
                <a:gridCol w="703626">
                  <a:extLst>
                    <a:ext uri="{9D8B030D-6E8A-4147-A177-3AD203B41FA5}">
                      <a16:colId xmlns:a16="http://schemas.microsoft.com/office/drawing/2014/main" val="599238650"/>
                    </a:ext>
                  </a:extLst>
                </a:gridCol>
                <a:gridCol w="703626">
                  <a:extLst>
                    <a:ext uri="{9D8B030D-6E8A-4147-A177-3AD203B41FA5}">
                      <a16:colId xmlns:a16="http://schemas.microsoft.com/office/drawing/2014/main" val="1993532448"/>
                    </a:ext>
                  </a:extLst>
                </a:gridCol>
                <a:gridCol w="703626">
                  <a:extLst>
                    <a:ext uri="{9D8B030D-6E8A-4147-A177-3AD203B41FA5}">
                      <a16:colId xmlns:a16="http://schemas.microsoft.com/office/drawing/2014/main" val="1589070976"/>
                    </a:ext>
                  </a:extLst>
                </a:gridCol>
                <a:gridCol w="703626">
                  <a:extLst>
                    <a:ext uri="{9D8B030D-6E8A-4147-A177-3AD203B41FA5}">
                      <a16:colId xmlns:a16="http://schemas.microsoft.com/office/drawing/2014/main" val="1910136635"/>
                    </a:ext>
                  </a:extLst>
                </a:gridCol>
                <a:gridCol w="703626">
                  <a:extLst>
                    <a:ext uri="{9D8B030D-6E8A-4147-A177-3AD203B41FA5}">
                      <a16:colId xmlns:a16="http://schemas.microsoft.com/office/drawing/2014/main" val="2988624055"/>
                    </a:ext>
                  </a:extLst>
                </a:gridCol>
                <a:gridCol w="703626">
                  <a:extLst>
                    <a:ext uri="{9D8B030D-6E8A-4147-A177-3AD203B41FA5}">
                      <a16:colId xmlns:a16="http://schemas.microsoft.com/office/drawing/2014/main" val="589599345"/>
                    </a:ext>
                  </a:extLst>
                </a:gridCol>
                <a:gridCol w="703626">
                  <a:extLst>
                    <a:ext uri="{9D8B030D-6E8A-4147-A177-3AD203B41FA5}">
                      <a16:colId xmlns:a16="http://schemas.microsoft.com/office/drawing/2014/main" val="3598978735"/>
                    </a:ext>
                  </a:extLst>
                </a:gridCol>
              </a:tblGrid>
              <a:tr h="3792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Jan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Feb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Apr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Mei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Jul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Aug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Oct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Jumlah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83222"/>
                  </a:ext>
                </a:extLst>
              </a:tr>
              <a:tr h="366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Donatur All Success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120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60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90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300 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120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240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300 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300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330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120 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300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120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2,400 </a:t>
                      </a:r>
                    </a:p>
                  </a:txBody>
                  <a:tcPr marL="6350" marR="6350" marT="6350" marB="0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288333"/>
                  </a:ext>
                </a:extLst>
              </a:tr>
              <a:tr h="366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100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10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20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200 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200 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300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100 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150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60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1,440 </a:t>
                      </a:r>
                    </a:p>
                  </a:txBody>
                  <a:tcPr marL="6350" marR="6350" marT="6350" marB="0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60218"/>
                  </a:ext>
                </a:extLst>
              </a:tr>
              <a:tr h="366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Invalid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20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50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70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100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20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140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100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200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20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150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60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930 </a:t>
                      </a:r>
                    </a:p>
                  </a:txBody>
                  <a:tcPr marL="6350" marR="6350" marT="6350" marB="0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879927"/>
                  </a:ext>
                </a:extLst>
              </a:tr>
              <a:tr h="366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CR Valid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393076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0387C7B-9E4C-A51B-EC3D-5840ED5E894E}"/>
              </a:ext>
            </a:extLst>
          </p:cNvPr>
          <p:cNvSpPr txBox="1"/>
          <p:nvPr/>
        </p:nvSpPr>
        <p:spPr>
          <a:xfrm>
            <a:off x="1601948" y="227632"/>
            <a:ext cx="898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Donatur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Valid/Invalid</a:t>
            </a:r>
          </a:p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Januari-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Desember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  <a:endParaRPr lang="id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D38A4A-3515-7063-C699-48A303E97C04}"/>
              </a:ext>
            </a:extLst>
          </p:cNvPr>
          <p:cNvSpPr txBox="1"/>
          <p:nvPr/>
        </p:nvSpPr>
        <p:spPr>
          <a:xfrm>
            <a:off x="10470995" y="6398431"/>
            <a:ext cx="1594625" cy="3815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74F0A0-EA09-E917-FC42-9C65C42355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1" b="36265"/>
          <a:stretch/>
        </p:blipFill>
        <p:spPr>
          <a:xfrm>
            <a:off x="9972472" y="207611"/>
            <a:ext cx="2062040" cy="736243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3633728-3D32-EBA5-4F50-96E3423927E3}"/>
              </a:ext>
            </a:extLst>
          </p:cNvPr>
          <p:cNvGrpSpPr/>
          <p:nvPr/>
        </p:nvGrpSpPr>
        <p:grpSpPr>
          <a:xfrm>
            <a:off x="-10584" y="0"/>
            <a:ext cx="336551" cy="6858000"/>
            <a:chOff x="-10584" y="0"/>
            <a:chExt cx="336551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05E2EC3-1BD3-7E3D-0CAF-C7114CC81DE4}"/>
                </a:ext>
              </a:extLst>
            </p:cNvPr>
            <p:cNvSpPr/>
            <p:nvPr/>
          </p:nvSpPr>
          <p:spPr>
            <a:xfrm>
              <a:off x="-10584" y="0"/>
              <a:ext cx="336551" cy="575733"/>
            </a:xfrm>
            <a:prstGeom prst="rect">
              <a:avLst/>
            </a:prstGeom>
            <a:solidFill>
              <a:srgbClr val="213F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FDED925-6E4A-74F9-8CF0-04AC8BBFBF64}"/>
                </a:ext>
              </a:extLst>
            </p:cNvPr>
            <p:cNvSpPr/>
            <p:nvPr/>
          </p:nvSpPr>
          <p:spPr>
            <a:xfrm>
              <a:off x="0" y="575733"/>
              <a:ext cx="101600" cy="6282267"/>
            </a:xfrm>
            <a:prstGeom prst="rect">
              <a:avLst/>
            </a:prstGeom>
            <a:solidFill>
              <a:srgbClr val="01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1959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A73C84-AFA4-3F03-2680-ED4459F51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B7A203-3ACE-B9D4-63C6-3470BDE09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237711"/>
              </p:ext>
            </p:extLst>
          </p:nvPr>
        </p:nvGraphicFramePr>
        <p:xfrm>
          <a:off x="901697" y="2313490"/>
          <a:ext cx="10388599" cy="2227990"/>
        </p:xfrm>
        <a:graphic>
          <a:graphicData uri="http://schemas.openxmlformats.org/drawingml/2006/table">
            <a:tbl>
              <a:tblPr/>
              <a:tblGrid>
                <a:gridCol w="1206608">
                  <a:extLst>
                    <a:ext uri="{9D8B030D-6E8A-4147-A177-3AD203B41FA5}">
                      <a16:colId xmlns:a16="http://schemas.microsoft.com/office/drawing/2014/main" val="1944537715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3636536326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1885082533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2211556219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695636309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1651988418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3356436038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2542438127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408727759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2306349134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2435300900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3622361325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3740757072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4200082219"/>
                    </a:ext>
                  </a:extLst>
                </a:gridCol>
              </a:tblGrid>
              <a:tr h="3792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Jan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Feb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Apr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Mei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Jul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Aug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Oct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Jumlah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799019"/>
                  </a:ext>
                </a:extLst>
              </a:tr>
              <a:tr h="366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Donatur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Valid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921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3350 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3630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7909 </a:t>
                      </a:r>
                    </a:p>
                  </a:txBody>
                  <a:tcPr marL="6350" marR="6350" marT="6350" marB="0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844151"/>
                  </a:ext>
                </a:extLst>
              </a:tr>
              <a:tr h="366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Loyal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0 </a:t>
                      </a:r>
                    </a:p>
                  </a:txBody>
                  <a:tcPr marL="6350" marR="6350" marT="6350" marB="0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1716000"/>
                  </a:ext>
                </a:extLst>
              </a:tr>
              <a:tr h="366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Aktif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3350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3630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7909</a:t>
                      </a:r>
                    </a:p>
                  </a:txBody>
                  <a:tcPr marL="6350" marR="6350" marT="6350" marB="0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976673"/>
                  </a:ext>
                </a:extLst>
              </a:tr>
              <a:tr h="366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Pasif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33967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26B041A-9643-3277-C689-E3B4E61D9073}"/>
              </a:ext>
            </a:extLst>
          </p:cNvPr>
          <p:cNvSpPr txBox="1"/>
          <p:nvPr/>
        </p:nvSpPr>
        <p:spPr>
          <a:xfrm>
            <a:off x="1601948" y="227632"/>
            <a:ext cx="898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Donatur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Loyal/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Aktif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Pasif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Januari-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Desember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  <a:endParaRPr lang="id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D97BD9-350D-6919-E033-6A6C06FB4B27}"/>
              </a:ext>
            </a:extLst>
          </p:cNvPr>
          <p:cNvSpPr txBox="1"/>
          <p:nvPr/>
        </p:nvSpPr>
        <p:spPr>
          <a:xfrm>
            <a:off x="10470995" y="6398431"/>
            <a:ext cx="1594625" cy="3815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8AFD77-042E-11C5-6C8D-CEEA3F1186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1" b="36265"/>
          <a:stretch/>
        </p:blipFill>
        <p:spPr>
          <a:xfrm>
            <a:off x="9972472" y="207611"/>
            <a:ext cx="2062040" cy="73624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BE78FC6-F8AE-1708-C481-418D871B4CCE}"/>
              </a:ext>
            </a:extLst>
          </p:cNvPr>
          <p:cNvGrpSpPr/>
          <p:nvPr/>
        </p:nvGrpSpPr>
        <p:grpSpPr>
          <a:xfrm>
            <a:off x="-10584" y="0"/>
            <a:ext cx="336551" cy="6858000"/>
            <a:chOff x="-10584" y="0"/>
            <a:chExt cx="336551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6F9782-FE5C-3785-B411-BC949054F968}"/>
                </a:ext>
              </a:extLst>
            </p:cNvPr>
            <p:cNvSpPr/>
            <p:nvPr/>
          </p:nvSpPr>
          <p:spPr>
            <a:xfrm>
              <a:off x="-10584" y="0"/>
              <a:ext cx="336551" cy="575733"/>
            </a:xfrm>
            <a:prstGeom prst="rect">
              <a:avLst/>
            </a:prstGeom>
            <a:solidFill>
              <a:srgbClr val="213F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ADA66A4-0E8D-38A7-B459-8C5A2B64F887}"/>
                </a:ext>
              </a:extLst>
            </p:cNvPr>
            <p:cNvSpPr/>
            <p:nvPr/>
          </p:nvSpPr>
          <p:spPr>
            <a:xfrm>
              <a:off x="0" y="575733"/>
              <a:ext cx="101600" cy="6282267"/>
            </a:xfrm>
            <a:prstGeom prst="rect">
              <a:avLst/>
            </a:prstGeom>
            <a:solidFill>
              <a:srgbClr val="01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6887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21954E1-4ADB-FE71-4A2E-6C1B493DF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425147-F4AD-24B1-D575-7D6E52623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225050"/>
              </p:ext>
            </p:extLst>
          </p:nvPr>
        </p:nvGraphicFramePr>
        <p:xfrm>
          <a:off x="901697" y="2313490"/>
          <a:ext cx="10388599" cy="2372087"/>
        </p:xfrm>
        <a:graphic>
          <a:graphicData uri="http://schemas.openxmlformats.org/drawingml/2006/table">
            <a:tbl>
              <a:tblPr/>
              <a:tblGrid>
                <a:gridCol w="1206608">
                  <a:extLst>
                    <a:ext uri="{9D8B030D-6E8A-4147-A177-3AD203B41FA5}">
                      <a16:colId xmlns:a16="http://schemas.microsoft.com/office/drawing/2014/main" val="1630192110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4093796514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2571900744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595672570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981842243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1154178424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1479584104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3964611635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3178000132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622971802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2656800671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4028082879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2417376560"/>
                    </a:ext>
                  </a:extLst>
                </a:gridCol>
                <a:gridCol w="706307">
                  <a:extLst>
                    <a:ext uri="{9D8B030D-6E8A-4147-A177-3AD203B41FA5}">
                      <a16:colId xmlns:a16="http://schemas.microsoft.com/office/drawing/2014/main" val="1234279046"/>
                    </a:ext>
                  </a:extLst>
                </a:gridCol>
              </a:tblGrid>
              <a:tr h="3959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Jan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Feb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Apr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Mei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Jul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Aug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Oct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Nov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Jumlah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31920"/>
                  </a:ext>
                </a:extLst>
              </a:tr>
              <a:tr h="3827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Donatur Valid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120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60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90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300 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120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240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300 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300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330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120 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300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120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2,400 </a:t>
                      </a:r>
                    </a:p>
                  </a:txBody>
                  <a:tcPr marL="6350" marR="6350" marT="6350" marB="0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58859"/>
                  </a:ext>
                </a:extLst>
              </a:tr>
              <a:tr h="3827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Silver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100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10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20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200 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200 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300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100 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150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60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1,440 </a:t>
                      </a:r>
                    </a:p>
                  </a:txBody>
                  <a:tcPr marL="6350" marR="6350" marT="6350" marB="0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760014"/>
                  </a:ext>
                </a:extLst>
              </a:tr>
              <a:tr h="3827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Gold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20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50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70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100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20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140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100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200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20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150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60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930 </a:t>
                      </a:r>
                    </a:p>
                  </a:txBody>
                  <a:tcPr marL="6350" marR="6350" marT="6350" marB="0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704577"/>
                  </a:ext>
                </a:extLst>
              </a:tr>
              <a:tr h="3827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Platinum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68063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481A8FD-39F5-38AC-1951-07E3B9A14EBE}"/>
              </a:ext>
            </a:extLst>
          </p:cNvPr>
          <p:cNvSpPr txBox="1"/>
          <p:nvPr/>
        </p:nvSpPr>
        <p:spPr>
          <a:xfrm>
            <a:off x="1601948" y="227632"/>
            <a:ext cx="898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Badge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Donatur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Januari-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Desember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  <a:endParaRPr lang="id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B33F34-7472-D0AC-8B27-085F98CF7DC9}"/>
              </a:ext>
            </a:extLst>
          </p:cNvPr>
          <p:cNvSpPr txBox="1"/>
          <p:nvPr/>
        </p:nvSpPr>
        <p:spPr>
          <a:xfrm>
            <a:off x="10470995" y="6398431"/>
            <a:ext cx="1594625" cy="3815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8.1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13EDC5-7EBC-A4E6-CECF-A3BCE427CD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1" b="36265"/>
          <a:stretch/>
        </p:blipFill>
        <p:spPr>
          <a:xfrm>
            <a:off x="9972472" y="207611"/>
            <a:ext cx="2062040" cy="73624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0AFA9D0-9D37-73AF-1BFA-DA59F8BC4E33}"/>
              </a:ext>
            </a:extLst>
          </p:cNvPr>
          <p:cNvGrpSpPr/>
          <p:nvPr/>
        </p:nvGrpSpPr>
        <p:grpSpPr>
          <a:xfrm>
            <a:off x="-10584" y="0"/>
            <a:ext cx="336551" cy="6858000"/>
            <a:chOff x="-10584" y="0"/>
            <a:chExt cx="336551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6D5863-102D-7B05-D6D3-E55374CD5D61}"/>
                </a:ext>
              </a:extLst>
            </p:cNvPr>
            <p:cNvSpPr/>
            <p:nvPr/>
          </p:nvSpPr>
          <p:spPr>
            <a:xfrm>
              <a:off x="-10584" y="0"/>
              <a:ext cx="336551" cy="575733"/>
            </a:xfrm>
            <a:prstGeom prst="rect">
              <a:avLst/>
            </a:prstGeom>
            <a:solidFill>
              <a:srgbClr val="213F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79259BC-11FA-077A-720B-E18F58941DA7}"/>
                </a:ext>
              </a:extLst>
            </p:cNvPr>
            <p:cNvSpPr/>
            <p:nvPr/>
          </p:nvSpPr>
          <p:spPr>
            <a:xfrm>
              <a:off x="0" y="575733"/>
              <a:ext cx="101600" cy="6282267"/>
            </a:xfrm>
            <a:prstGeom prst="rect">
              <a:avLst/>
            </a:prstGeom>
            <a:solidFill>
              <a:srgbClr val="01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0703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0DC0B8-31A6-E229-E03F-919C8D14A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2F040A6-D4D2-06E2-3BCC-566D8706B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714003"/>
              </p:ext>
            </p:extLst>
          </p:nvPr>
        </p:nvGraphicFramePr>
        <p:xfrm>
          <a:off x="1660522" y="2256340"/>
          <a:ext cx="8870951" cy="3092900"/>
        </p:xfrm>
        <a:graphic>
          <a:graphicData uri="http://schemas.openxmlformats.org/drawingml/2006/table">
            <a:tbl>
              <a:tblPr/>
              <a:tblGrid>
                <a:gridCol w="1965995">
                  <a:extLst>
                    <a:ext uri="{9D8B030D-6E8A-4147-A177-3AD203B41FA5}">
                      <a16:colId xmlns:a16="http://schemas.microsoft.com/office/drawing/2014/main" val="1630192110"/>
                    </a:ext>
                  </a:extLst>
                </a:gridCol>
                <a:gridCol w="1150826">
                  <a:extLst>
                    <a:ext uri="{9D8B030D-6E8A-4147-A177-3AD203B41FA5}">
                      <a16:colId xmlns:a16="http://schemas.microsoft.com/office/drawing/2014/main" val="4093796514"/>
                    </a:ext>
                  </a:extLst>
                </a:gridCol>
                <a:gridCol w="1150826">
                  <a:extLst>
                    <a:ext uri="{9D8B030D-6E8A-4147-A177-3AD203B41FA5}">
                      <a16:colId xmlns:a16="http://schemas.microsoft.com/office/drawing/2014/main" val="2571900744"/>
                    </a:ext>
                  </a:extLst>
                </a:gridCol>
                <a:gridCol w="1150826">
                  <a:extLst>
                    <a:ext uri="{9D8B030D-6E8A-4147-A177-3AD203B41FA5}">
                      <a16:colId xmlns:a16="http://schemas.microsoft.com/office/drawing/2014/main" val="595672570"/>
                    </a:ext>
                  </a:extLst>
                </a:gridCol>
                <a:gridCol w="1150826">
                  <a:extLst>
                    <a:ext uri="{9D8B030D-6E8A-4147-A177-3AD203B41FA5}">
                      <a16:colId xmlns:a16="http://schemas.microsoft.com/office/drawing/2014/main" val="981842243"/>
                    </a:ext>
                  </a:extLst>
                </a:gridCol>
                <a:gridCol w="1150826">
                  <a:extLst>
                    <a:ext uri="{9D8B030D-6E8A-4147-A177-3AD203B41FA5}">
                      <a16:colId xmlns:a16="http://schemas.microsoft.com/office/drawing/2014/main" val="1154178424"/>
                    </a:ext>
                  </a:extLst>
                </a:gridCol>
                <a:gridCol w="1150826">
                  <a:extLst>
                    <a:ext uri="{9D8B030D-6E8A-4147-A177-3AD203B41FA5}">
                      <a16:colId xmlns:a16="http://schemas.microsoft.com/office/drawing/2014/main" val="1234279046"/>
                    </a:ext>
                  </a:extLst>
                </a:gridCol>
              </a:tblGrid>
              <a:tr h="6355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Badge</a:t>
                      </a:r>
                      <a:r>
                        <a:rPr lang="en-U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CS 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CS 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CS 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CS 4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CS 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Jumlah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31920"/>
                  </a:ext>
                </a:extLst>
              </a:tr>
              <a:tr h="6143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Donatur Valid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120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60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90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300 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120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2,400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58859"/>
                  </a:ext>
                </a:extLst>
              </a:tr>
              <a:tr h="6143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Silver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100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10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20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200 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1,440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760014"/>
                  </a:ext>
                </a:extLst>
              </a:tr>
              <a:tr h="6143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Gold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20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50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70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100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20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930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704577"/>
                  </a:ext>
                </a:extLst>
              </a:tr>
              <a:tr h="6143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Platinum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-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68063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1068AB9-37F8-D8C2-EAA0-5FA9A5B93865}"/>
              </a:ext>
            </a:extLst>
          </p:cNvPr>
          <p:cNvSpPr txBox="1"/>
          <p:nvPr/>
        </p:nvSpPr>
        <p:spPr>
          <a:xfrm>
            <a:off x="1601948" y="227632"/>
            <a:ext cx="89881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Badge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Donatur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per CS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9A8AAA-286A-9795-0500-6560A48C5AAF}"/>
              </a:ext>
            </a:extLst>
          </p:cNvPr>
          <p:cNvSpPr txBox="1"/>
          <p:nvPr/>
        </p:nvSpPr>
        <p:spPr>
          <a:xfrm>
            <a:off x="10470995" y="6398431"/>
            <a:ext cx="1594625" cy="3815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8.2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4B6C2D-A19D-33B5-F493-00B0775A2B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1" b="36265"/>
          <a:stretch/>
        </p:blipFill>
        <p:spPr>
          <a:xfrm>
            <a:off x="9972472" y="207611"/>
            <a:ext cx="2062040" cy="73624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FBEAC08-15C5-902D-25B0-54E23237C9A3}"/>
              </a:ext>
            </a:extLst>
          </p:cNvPr>
          <p:cNvGrpSpPr/>
          <p:nvPr/>
        </p:nvGrpSpPr>
        <p:grpSpPr>
          <a:xfrm>
            <a:off x="-10584" y="0"/>
            <a:ext cx="336551" cy="6858000"/>
            <a:chOff x="-10584" y="0"/>
            <a:chExt cx="336551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261B3B5-7895-AE8F-B900-130B203F6293}"/>
                </a:ext>
              </a:extLst>
            </p:cNvPr>
            <p:cNvSpPr/>
            <p:nvPr/>
          </p:nvSpPr>
          <p:spPr>
            <a:xfrm>
              <a:off x="-10584" y="0"/>
              <a:ext cx="336551" cy="575733"/>
            </a:xfrm>
            <a:prstGeom prst="rect">
              <a:avLst/>
            </a:prstGeom>
            <a:solidFill>
              <a:srgbClr val="213F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46C628-B750-86B8-3442-49977702FBA6}"/>
                </a:ext>
              </a:extLst>
            </p:cNvPr>
            <p:cNvSpPr/>
            <p:nvPr/>
          </p:nvSpPr>
          <p:spPr>
            <a:xfrm>
              <a:off x="0" y="575733"/>
              <a:ext cx="101600" cy="6282267"/>
            </a:xfrm>
            <a:prstGeom prst="rect">
              <a:avLst/>
            </a:prstGeom>
            <a:solidFill>
              <a:srgbClr val="01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1541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65DD546-5B11-CFA1-B641-5E0549FFC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E210F3-D878-3B1D-00BE-166B1C3AE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3FF04A7-1197-F558-394F-5C5E06D8AC09}"/>
              </a:ext>
            </a:extLst>
          </p:cNvPr>
          <p:cNvSpPr/>
          <p:nvPr/>
        </p:nvSpPr>
        <p:spPr>
          <a:xfrm>
            <a:off x="0" y="0"/>
            <a:ext cx="7137400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D0D4B73-F0C1-368E-65E6-F865EB49D4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2892" y="2375333"/>
            <a:ext cx="5688258" cy="2070099"/>
          </a:xfrm>
        </p:spPr>
        <p:txBody>
          <a:bodyPr anchor="ctr">
            <a:no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66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CRM</a:t>
            </a:r>
            <a:endParaRPr lang="id-ID" altLang="en-US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481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BA5FC12-C769-32D1-8E11-7C5E0D8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5D4569-CC3E-3A72-E046-FC6BC4BCB078}"/>
              </a:ext>
            </a:extLst>
          </p:cNvPr>
          <p:cNvSpPr txBox="1"/>
          <p:nvPr/>
        </p:nvSpPr>
        <p:spPr>
          <a:xfrm>
            <a:off x="1601948" y="227632"/>
            <a:ext cx="898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Capaian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Donasi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Januari-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Desember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  <a:endParaRPr lang="id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C0A48B6-E5D1-6860-B03A-E5E311830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899557"/>
              </p:ext>
            </p:extLst>
          </p:nvPr>
        </p:nvGraphicFramePr>
        <p:xfrm>
          <a:off x="794385" y="1503680"/>
          <a:ext cx="10603230" cy="4337052"/>
        </p:xfrm>
        <a:graphic>
          <a:graphicData uri="http://schemas.openxmlformats.org/drawingml/2006/table">
            <a:tbl>
              <a:tblPr/>
              <a:tblGrid>
                <a:gridCol w="1338416">
                  <a:extLst>
                    <a:ext uri="{9D8B030D-6E8A-4147-A177-3AD203B41FA5}">
                      <a16:colId xmlns:a16="http://schemas.microsoft.com/office/drawing/2014/main" val="2767557750"/>
                    </a:ext>
                  </a:extLst>
                </a:gridCol>
                <a:gridCol w="951762">
                  <a:extLst>
                    <a:ext uri="{9D8B030D-6E8A-4147-A177-3AD203B41FA5}">
                      <a16:colId xmlns:a16="http://schemas.microsoft.com/office/drawing/2014/main" val="917867188"/>
                    </a:ext>
                  </a:extLst>
                </a:gridCol>
                <a:gridCol w="1680456">
                  <a:extLst>
                    <a:ext uri="{9D8B030D-6E8A-4147-A177-3AD203B41FA5}">
                      <a16:colId xmlns:a16="http://schemas.microsoft.com/office/drawing/2014/main" val="1559888244"/>
                    </a:ext>
                  </a:extLst>
                </a:gridCol>
                <a:gridCol w="1546614">
                  <a:extLst>
                    <a:ext uri="{9D8B030D-6E8A-4147-A177-3AD203B41FA5}">
                      <a16:colId xmlns:a16="http://schemas.microsoft.com/office/drawing/2014/main" val="2552229455"/>
                    </a:ext>
                  </a:extLst>
                </a:gridCol>
                <a:gridCol w="2230694">
                  <a:extLst>
                    <a:ext uri="{9D8B030D-6E8A-4147-A177-3AD203B41FA5}">
                      <a16:colId xmlns:a16="http://schemas.microsoft.com/office/drawing/2014/main" val="1721456154"/>
                    </a:ext>
                  </a:extLst>
                </a:gridCol>
                <a:gridCol w="1427644">
                  <a:extLst>
                    <a:ext uri="{9D8B030D-6E8A-4147-A177-3AD203B41FA5}">
                      <a16:colId xmlns:a16="http://schemas.microsoft.com/office/drawing/2014/main" val="1815424795"/>
                    </a:ext>
                  </a:extLst>
                </a:gridCol>
                <a:gridCol w="1427644">
                  <a:extLst>
                    <a:ext uri="{9D8B030D-6E8A-4147-A177-3AD203B41FA5}">
                      <a16:colId xmlns:a16="http://schemas.microsoft.com/office/drawing/2014/main" val="1629748718"/>
                    </a:ext>
                  </a:extLst>
                </a:gridCol>
              </a:tblGrid>
              <a:tr h="499120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Rekap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Himpunan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Dana 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Fundrasing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CRM 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Tahun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2025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325185"/>
                  </a:ext>
                </a:extLst>
              </a:tr>
              <a:tr h="2741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BULAN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TARGET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HIMPUNAN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BIAYA IKLAN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179287"/>
                  </a:ext>
                </a:extLst>
              </a:tr>
              <a:tr h="27413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JANUARI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851953"/>
                  </a:ext>
                </a:extLst>
              </a:tr>
              <a:tr h="27413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FEBRUARI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380996"/>
                  </a:ext>
                </a:extLst>
              </a:tr>
              <a:tr h="27413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MARET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016287"/>
                  </a:ext>
                </a:extLst>
              </a:tr>
              <a:tr h="27413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APRIL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158956"/>
                  </a:ext>
                </a:extLst>
              </a:tr>
              <a:tr h="27413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127212"/>
                  </a:ext>
                </a:extLst>
              </a:tr>
              <a:tr h="27413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1188434"/>
                  </a:ext>
                </a:extLst>
              </a:tr>
              <a:tr h="27413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741027"/>
                  </a:ext>
                </a:extLst>
              </a:tr>
              <a:tr h="27413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AGUSTUS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440363"/>
                  </a:ext>
                </a:extLst>
              </a:tr>
              <a:tr h="27413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SEPTEMBER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3447595"/>
                  </a:ext>
                </a:extLst>
              </a:tr>
              <a:tr h="27413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OKTOBER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291920"/>
                  </a:ext>
                </a:extLst>
              </a:tr>
              <a:tr h="27413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NOVEMBER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972806"/>
                  </a:ext>
                </a:extLst>
              </a:tr>
              <a:tr h="27413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DESEMBER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70385"/>
                  </a:ext>
                </a:extLst>
              </a:tr>
              <a:tr h="27413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04871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7298AAC-03D4-DE5F-4F28-2E5FA36DD638}"/>
              </a:ext>
            </a:extLst>
          </p:cNvPr>
          <p:cNvSpPr txBox="1"/>
          <p:nvPr/>
        </p:nvSpPr>
        <p:spPr>
          <a:xfrm>
            <a:off x="10470995" y="6398431"/>
            <a:ext cx="1594625" cy="3815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9.1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DFE129-7F82-1C40-026A-748DFE7068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1" b="36265"/>
          <a:stretch/>
        </p:blipFill>
        <p:spPr>
          <a:xfrm>
            <a:off x="9972472" y="207611"/>
            <a:ext cx="2062040" cy="73624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A802D61-8AA2-8CFE-9CE8-95BED55B0E3E}"/>
              </a:ext>
            </a:extLst>
          </p:cNvPr>
          <p:cNvGrpSpPr/>
          <p:nvPr/>
        </p:nvGrpSpPr>
        <p:grpSpPr>
          <a:xfrm>
            <a:off x="-10584" y="0"/>
            <a:ext cx="336551" cy="6858000"/>
            <a:chOff x="-10584" y="0"/>
            <a:chExt cx="336551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E5C472A-3EEB-D012-E2B1-9E977483E496}"/>
                </a:ext>
              </a:extLst>
            </p:cNvPr>
            <p:cNvSpPr/>
            <p:nvPr/>
          </p:nvSpPr>
          <p:spPr>
            <a:xfrm>
              <a:off x="-10584" y="0"/>
              <a:ext cx="336551" cy="575733"/>
            </a:xfrm>
            <a:prstGeom prst="rect">
              <a:avLst/>
            </a:prstGeom>
            <a:solidFill>
              <a:srgbClr val="213F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67E21AD-C9FF-1351-957A-D0A3B6A41627}"/>
                </a:ext>
              </a:extLst>
            </p:cNvPr>
            <p:cNvSpPr/>
            <p:nvPr/>
          </p:nvSpPr>
          <p:spPr>
            <a:xfrm>
              <a:off x="0" y="575733"/>
              <a:ext cx="101600" cy="6282267"/>
            </a:xfrm>
            <a:prstGeom prst="rect">
              <a:avLst/>
            </a:prstGeom>
            <a:solidFill>
              <a:srgbClr val="01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6046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9866915-D16F-822D-B2E8-9445638A3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9FCFE2-F621-C9C8-4028-3FEAD6BCFA38}"/>
              </a:ext>
            </a:extLst>
          </p:cNvPr>
          <p:cNvSpPr txBox="1"/>
          <p:nvPr/>
        </p:nvSpPr>
        <p:spPr>
          <a:xfrm>
            <a:off x="1601948" y="227632"/>
            <a:ext cx="898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Capaian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Donasi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Januari-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Desember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  <a:endParaRPr lang="id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64AE7B-16FA-6AFA-7622-F21B72BEE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004058"/>
              </p:ext>
            </p:extLst>
          </p:nvPr>
        </p:nvGraphicFramePr>
        <p:xfrm>
          <a:off x="994410" y="1020013"/>
          <a:ext cx="10203180" cy="5267990"/>
        </p:xfrm>
        <a:graphic>
          <a:graphicData uri="http://schemas.openxmlformats.org/drawingml/2006/table">
            <a:tbl>
              <a:tblPr/>
              <a:tblGrid>
                <a:gridCol w="2475166">
                  <a:extLst>
                    <a:ext uri="{9D8B030D-6E8A-4147-A177-3AD203B41FA5}">
                      <a16:colId xmlns:a16="http://schemas.microsoft.com/office/drawing/2014/main" val="3063096476"/>
                    </a:ext>
                  </a:extLst>
                </a:gridCol>
                <a:gridCol w="1760117">
                  <a:extLst>
                    <a:ext uri="{9D8B030D-6E8A-4147-A177-3AD203B41FA5}">
                      <a16:colId xmlns:a16="http://schemas.microsoft.com/office/drawing/2014/main" val="3752625570"/>
                    </a:ext>
                  </a:extLst>
                </a:gridCol>
                <a:gridCol w="3107707">
                  <a:extLst>
                    <a:ext uri="{9D8B030D-6E8A-4147-A177-3AD203B41FA5}">
                      <a16:colId xmlns:a16="http://schemas.microsoft.com/office/drawing/2014/main" val="776224759"/>
                    </a:ext>
                  </a:extLst>
                </a:gridCol>
                <a:gridCol w="2860190">
                  <a:extLst>
                    <a:ext uri="{9D8B030D-6E8A-4147-A177-3AD203B41FA5}">
                      <a16:colId xmlns:a16="http://schemas.microsoft.com/office/drawing/2014/main" val="260809430"/>
                    </a:ext>
                  </a:extLst>
                </a:gridCol>
              </a:tblGrid>
              <a:tr h="752570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Pertumbuhan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Dana Personal Fundraising CRM 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Februari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2025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51995"/>
                  </a:ext>
                </a:extLst>
              </a:tr>
              <a:tr h="7525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TARGET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HIMPUNAN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4"/>
                  </a:ext>
                </a:extLst>
              </a:tr>
              <a:tr h="7525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 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258781"/>
                  </a:ext>
                </a:extLst>
              </a:tr>
              <a:tr h="7525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 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196979"/>
                  </a:ext>
                </a:extLst>
              </a:tr>
              <a:tr h="7525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 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456980"/>
                  </a:ext>
                </a:extLst>
              </a:tr>
              <a:tr h="7525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 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274989"/>
                  </a:ext>
                </a:extLst>
              </a:tr>
              <a:tr h="7525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8467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E9C05AB-30D0-28D0-7856-7EDEC23D0EF8}"/>
              </a:ext>
            </a:extLst>
          </p:cNvPr>
          <p:cNvSpPr txBox="1"/>
          <p:nvPr/>
        </p:nvSpPr>
        <p:spPr>
          <a:xfrm>
            <a:off x="10470995" y="6398431"/>
            <a:ext cx="1594625" cy="3815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9.2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34F252-AC80-EA26-7C35-62C893CA5C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1" b="36265"/>
          <a:stretch/>
        </p:blipFill>
        <p:spPr>
          <a:xfrm>
            <a:off x="9972472" y="207611"/>
            <a:ext cx="2062040" cy="73624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4C94B22-CB1A-4B64-7E31-BDFA6439E6F4}"/>
              </a:ext>
            </a:extLst>
          </p:cNvPr>
          <p:cNvGrpSpPr/>
          <p:nvPr/>
        </p:nvGrpSpPr>
        <p:grpSpPr>
          <a:xfrm>
            <a:off x="-10584" y="0"/>
            <a:ext cx="336551" cy="6858000"/>
            <a:chOff x="-10584" y="0"/>
            <a:chExt cx="336551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8AEFE7D-7C54-2607-6704-96914AB1337A}"/>
                </a:ext>
              </a:extLst>
            </p:cNvPr>
            <p:cNvSpPr/>
            <p:nvPr/>
          </p:nvSpPr>
          <p:spPr>
            <a:xfrm>
              <a:off x="-10584" y="0"/>
              <a:ext cx="336551" cy="575733"/>
            </a:xfrm>
            <a:prstGeom prst="rect">
              <a:avLst/>
            </a:prstGeom>
            <a:solidFill>
              <a:srgbClr val="213F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7654449-040B-6CBC-7F6A-58CF797E5948}"/>
                </a:ext>
              </a:extLst>
            </p:cNvPr>
            <p:cNvSpPr/>
            <p:nvPr/>
          </p:nvSpPr>
          <p:spPr>
            <a:xfrm>
              <a:off x="0" y="575733"/>
              <a:ext cx="101600" cy="6282267"/>
            </a:xfrm>
            <a:prstGeom prst="rect">
              <a:avLst/>
            </a:prstGeom>
            <a:solidFill>
              <a:srgbClr val="01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712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A8AB5D-ABD6-2297-3A27-69A2BE4A7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BAA43C-166F-69B3-D17A-96BE8AE02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109971"/>
              </p:ext>
            </p:extLst>
          </p:nvPr>
        </p:nvGraphicFramePr>
        <p:xfrm>
          <a:off x="1660522" y="2256340"/>
          <a:ext cx="7720125" cy="2478557"/>
        </p:xfrm>
        <a:graphic>
          <a:graphicData uri="http://schemas.openxmlformats.org/drawingml/2006/table">
            <a:tbl>
              <a:tblPr/>
              <a:tblGrid>
                <a:gridCol w="1965995">
                  <a:extLst>
                    <a:ext uri="{9D8B030D-6E8A-4147-A177-3AD203B41FA5}">
                      <a16:colId xmlns:a16="http://schemas.microsoft.com/office/drawing/2014/main" val="1630192110"/>
                    </a:ext>
                  </a:extLst>
                </a:gridCol>
                <a:gridCol w="1150826">
                  <a:extLst>
                    <a:ext uri="{9D8B030D-6E8A-4147-A177-3AD203B41FA5}">
                      <a16:colId xmlns:a16="http://schemas.microsoft.com/office/drawing/2014/main" val="4093796514"/>
                    </a:ext>
                  </a:extLst>
                </a:gridCol>
                <a:gridCol w="1150826">
                  <a:extLst>
                    <a:ext uri="{9D8B030D-6E8A-4147-A177-3AD203B41FA5}">
                      <a16:colId xmlns:a16="http://schemas.microsoft.com/office/drawing/2014/main" val="2571900744"/>
                    </a:ext>
                  </a:extLst>
                </a:gridCol>
                <a:gridCol w="1150826">
                  <a:extLst>
                    <a:ext uri="{9D8B030D-6E8A-4147-A177-3AD203B41FA5}">
                      <a16:colId xmlns:a16="http://schemas.microsoft.com/office/drawing/2014/main" val="595672570"/>
                    </a:ext>
                  </a:extLst>
                </a:gridCol>
                <a:gridCol w="1150826">
                  <a:extLst>
                    <a:ext uri="{9D8B030D-6E8A-4147-A177-3AD203B41FA5}">
                      <a16:colId xmlns:a16="http://schemas.microsoft.com/office/drawing/2014/main" val="981842243"/>
                    </a:ext>
                  </a:extLst>
                </a:gridCol>
                <a:gridCol w="1150826">
                  <a:extLst>
                    <a:ext uri="{9D8B030D-6E8A-4147-A177-3AD203B41FA5}">
                      <a16:colId xmlns:a16="http://schemas.microsoft.com/office/drawing/2014/main" val="1154178424"/>
                    </a:ext>
                  </a:extLst>
                </a:gridCol>
              </a:tblGrid>
              <a:tr h="6355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Badge</a:t>
                      </a:r>
                      <a:r>
                        <a:rPr lang="en-U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CS 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CS 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CS 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CS 4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CS 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31920"/>
                  </a:ext>
                </a:extLst>
              </a:tr>
              <a:tr h="6143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Donatur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Valid Success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120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60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90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300 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120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58859"/>
                  </a:ext>
                </a:extLst>
              </a:tr>
              <a:tr h="6143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Donatur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Valid Waiting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100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10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20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200 </a:t>
                      </a: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760014"/>
                  </a:ext>
                </a:extLst>
              </a:tr>
              <a:tr h="6143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Donatur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20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50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70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100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20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70457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D9307C6-4E0A-DBAF-29ED-A58710DED8AB}"/>
              </a:ext>
            </a:extLst>
          </p:cNvPr>
          <p:cNvSpPr txBox="1"/>
          <p:nvPr/>
        </p:nvSpPr>
        <p:spPr>
          <a:xfrm>
            <a:off x="1601948" y="227632"/>
            <a:ext cx="89881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Distribusi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Donatur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per CS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54AFCF-B92D-C5B4-EC65-DDAE3B228511}"/>
              </a:ext>
            </a:extLst>
          </p:cNvPr>
          <p:cNvSpPr txBox="1"/>
          <p:nvPr/>
        </p:nvSpPr>
        <p:spPr>
          <a:xfrm>
            <a:off x="10470995" y="6398431"/>
            <a:ext cx="1594625" cy="3815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10.1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5211FC-53C0-02D6-8CAD-CA22E8A40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1" b="36265"/>
          <a:stretch/>
        </p:blipFill>
        <p:spPr>
          <a:xfrm>
            <a:off x="9972472" y="207611"/>
            <a:ext cx="2062040" cy="73624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54B0262-C071-821B-8B6C-8AB385CB75AF}"/>
              </a:ext>
            </a:extLst>
          </p:cNvPr>
          <p:cNvGrpSpPr/>
          <p:nvPr/>
        </p:nvGrpSpPr>
        <p:grpSpPr>
          <a:xfrm>
            <a:off x="-10584" y="0"/>
            <a:ext cx="336551" cy="6858000"/>
            <a:chOff x="-10584" y="0"/>
            <a:chExt cx="336551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7AA8C84-6443-4029-DCC6-BEB6B0AA8B63}"/>
                </a:ext>
              </a:extLst>
            </p:cNvPr>
            <p:cNvSpPr/>
            <p:nvPr/>
          </p:nvSpPr>
          <p:spPr>
            <a:xfrm>
              <a:off x="-10584" y="0"/>
              <a:ext cx="336551" cy="575733"/>
            </a:xfrm>
            <a:prstGeom prst="rect">
              <a:avLst/>
            </a:prstGeom>
            <a:solidFill>
              <a:srgbClr val="213F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15E2D13-4E2D-4AF3-C095-39A8083AD123}"/>
                </a:ext>
              </a:extLst>
            </p:cNvPr>
            <p:cNvSpPr/>
            <p:nvPr/>
          </p:nvSpPr>
          <p:spPr>
            <a:xfrm>
              <a:off x="0" y="575733"/>
              <a:ext cx="101600" cy="6282267"/>
            </a:xfrm>
            <a:prstGeom prst="rect">
              <a:avLst/>
            </a:prstGeom>
            <a:solidFill>
              <a:srgbClr val="01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1952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0B8C23B-1316-46FE-2F1C-8AB37BF77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0E8010-1707-D0A2-D7FD-F1331C58A2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533030"/>
              </p:ext>
            </p:extLst>
          </p:nvPr>
        </p:nvGraphicFramePr>
        <p:xfrm>
          <a:off x="1660522" y="2256340"/>
          <a:ext cx="7720125" cy="2478557"/>
        </p:xfrm>
        <a:graphic>
          <a:graphicData uri="http://schemas.openxmlformats.org/drawingml/2006/table">
            <a:tbl>
              <a:tblPr/>
              <a:tblGrid>
                <a:gridCol w="1965995">
                  <a:extLst>
                    <a:ext uri="{9D8B030D-6E8A-4147-A177-3AD203B41FA5}">
                      <a16:colId xmlns:a16="http://schemas.microsoft.com/office/drawing/2014/main" val="1630192110"/>
                    </a:ext>
                  </a:extLst>
                </a:gridCol>
                <a:gridCol w="1150826">
                  <a:extLst>
                    <a:ext uri="{9D8B030D-6E8A-4147-A177-3AD203B41FA5}">
                      <a16:colId xmlns:a16="http://schemas.microsoft.com/office/drawing/2014/main" val="4093796514"/>
                    </a:ext>
                  </a:extLst>
                </a:gridCol>
                <a:gridCol w="1150826">
                  <a:extLst>
                    <a:ext uri="{9D8B030D-6E8A-4147-A177-3AD203B41FA5}">
                      <a16:colId xmlns:a16="http://schemas.microsoft.com/office/drawing/2014/main" val="2571900744"/>
                    </a:ext>
                  </a:extLst>
                </a:gridCol>
                <a:gridCol w="1150826">
                  <a:extLst>
                    <a:ext uri="{9D8B030D-6E8A-4147-A177-3AD203B41FA5}">
                      <a16:colId xmlns:a16="http://schemas.microsoft.com/office/drawing/2014/main" val="595672570"/>
                    </a:ext>
                  </a:extLst>
                </a:gridCol>
                <a:gridCol w="1150826">
                  <a:extLst>
                    <a:ext uri="{9D8B030D-6E8A-4147-A177-3AD203B41FA5}">
                      <a16:colId xmlns:a16="http://schemas.microsoft.com/office/drawing/2014/main" val="981842243"/>
                    </a:ext>
                  </a:extLst>
                </a:gridCol>
                <a:gridCol w="1150826">
                  <a:extLst>
                    <a:ext uri="{9D8B030D-6E8A-4147-A177-3AD203B41FA5}">
                      <a16:colId xmlns:a16="http://schemas.microsoft.com/office/drawing/2014/main" val="1154178424"/>
                    </a:ext>
                  </a:extLst>
                </a:gridCol>
              </a:tblGrid>
              <a:tr h="6355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Badge</a:t>
                      </a:r>
                      <a:r>
                        <a:rPr lang="en-US" sz="16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Periode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periode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periode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periode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periode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31920"/>
                  </a:ext>
                </a:extLst>
              </a:tr>
              <a:tr h="6143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Donatur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Valid Success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58859"/>
                  </a:ext>
                </a:extLst>
              </a:tr>
              <a:tr h="6143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Donatur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Valid Waiting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760014"/>
                  </a:ext>
                </a:extLst>
              </a:tr>
              <a:tr h="6143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Donatur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70457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884C0CD-A15A-7A70-36F7-89BF0A1AC181}"/>
              </a:ext>
            </a:extLst>
          </p:cNvPr>
          <p:cNvSpPr txBox="1"/>
          <p:nvPr/>
        </p:nvSpPr>
        <p:spPr>
          <a:xfrm>
            <a:off x="1601948" y="227632"/>
            <a:ext cx="89881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Donatur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Belum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terdistribusi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3C179A-6216-A876-3784-354BF33B6793}"/>
              </a:ext>
            </a:extLst>
          </p:cNvPr>
          <p:cNvSpPr txBox="1"/>
          <p:nvPr/>
        </p:nvSpPr>
        <p:spPr>
          <a:xfrm>
            <a:off x="10470995" y="6398431"/>
            <a:ext cx="1594625" cy="3815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10.2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F7BA22-CCA7-917F-ADC5-B6F77A98E1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1" b="36265"/>
          <a:stretch/>
        </p:blipFill>
        <p:spPr>
          <a:xfrm>
            <a:off x="9972472" y="207611"/>
            <a:ext cx="2062040" cy="73624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372270F-376D-966C-E0A5-388256077E9E}"/>
              </a:ext>
            </a:extLst>
          </p:cNvPr>
          <p:cNvGrpSpPr/>
          <p:nvPr/>
        </p:nvGrpSpPr>
        <p:grpSpPr>
          <a:xfrm>
            <a:off x="-10584" y="0"/>
            <a:ext cx="336551" cy="6858000"/>
            <a:chOff x="-10584" y="0"/>
            <a:chExt cx="336551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C6F8A4-F731-F399-183A-46D9F230EEBE}"/>
                </a:ext>
              </a:extLst>
            </p:cNvPr>
            <p:cNvSpPr/>
            <p:nvPr/>
          </p:nvSpPr>
          <p:spPr>
            <a:xfrm>
              <a:off x="-10584" y="0"/>
              <a:ext cx="336551" cy="575733"/>
            </a:xfrm>
            <a:prstGeom prst="rect">
              <a:avLst/>
            </a:prstGeom>
            <a:solidFill>
              <a:srgbClr val="213F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8DC2A5-8147-56A3-6CED-F973FAAC6095}"/>
                </a:ext>
              </a:extLst>
            </p:cNvPr>
            <p:cNvSpPr/>
            <p:nvPr/>
          </p:nvSpPr>
          <p:spPr>
            <a:xfrm>
              <a:off x="0" y="575733"/>
              <a:ext cx="101600" cy="6282267"/>
            </a:xfrm>
            <a:prstGeom prst="rect">
              <a:avLst/>
            </a:prstGeom>
            <a:solidFill>
              <a:srgbClr val="01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3662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974782-F15C-EA88-C0BA-9B8E3D31A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A927F1-0FD9-BA39-6069-04067CB8B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01330CA-F66B-4F69-7300-EA66ED224522}"/>
              </a:ext>
            </a:extLst>
          </p:cNvPr>
          <p:cNvSpPr/>
          <p:nvPr/>
        </p:nvSpPr>
        <p:spPr>
          <a:xfrm>
            <a:off x="0" y="0"/>
            <a:ext cx="7137400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87E23B3-923A-037A-E6BF-5A243FBF08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2892" y="2375333"/>
            <a:ext cx="5688258" cy="2070099"/>
          </a:xfrm>
        </p:spPr>
        <p:txBody>
          <a:bodyPr anchor="ctr">
            <a:no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66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Top Program </a:t>
            </a:r>
            <a:br>
              <a:rPr lang="en-US" altLang="en-US" sz="66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n-US" altLang="en-US" sz="66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&amp; </a:t>
            </a:r>
            <a:r>
              <a:rPr lang="en-US" altLang="en-US" sz="6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Channel </a:t>
            </a:r>
            <a:r>
              <a:rPr lang="en-US" altLang="en-US" sz="6600" dirty="0" err="1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Pembayaran</a:t>
            </a:r>
            <a:endParaRPr lang="id-ID" altLang="en-US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206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77BD99F-A69C-6B6F-D1E5-5A52732D5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3">
            <a:extLst>
              <a:ext uri="{FF2B5EF4-FFF2-40B4-BE49-F238E27FC236}">
                <a16:creationId xmlns:a16="http://schemas.microsoft.com/office/drawing/2014/main" id="{67C4E01F-D531-567B-85FB-1EC2550C1B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7012" y="215453"/>
            <a:ext cx="721110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Top Program</a:t>
            </a:r>
            <a:endParaRPr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79CA9D49-B915-028D-4830-C69C866CACB0}"/>
              </a:ext>
            </a:extLst>
          </p:cNvPr>
          <p:cNvSpPr txBox="1">
            <a:spLocks/>
          </p:cNvSpPr>
          <p:nvPr/>
        </p:nvSpPr>
        <p:spPr>
          <a:xfrm>
            <a:off x="607012" y="773702"/>
            <a:ext cx="7211108" cy="44371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Januari –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Desember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F8E682-580A-7690-8685-C07B72DC0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505733"/>
              </p:ext>
            </p:extLst>
          </p:nvPr>
        </p:nvGraphicFramePr>
        <p:xfrm>
          <a:off x="607013" y="2233506"/>
          <a:ext cx="6244638" cy="292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81546">
                  <a:extLst>
                    <a:ext uri="{9D8B030D-6E8A-4147-A177-3AD203B41FA5}">
                      <a16:colId xmlns:a16="http://schemas.microsoft.com/office/drawing/2014/main" val="503123958"/>
                    </a:ext>
                  </a:extLst>
                </a:gridCol>
                <a:gridCol w="2081546">
                  <a:extLst>
                    <a:ext uri="{9D8B030D-6E8A-4147-A177-3AD203B41FA5}">
                      <a16:colId xmlns:a16="http://schemas.microsoft.com/office/drawing/2014/main" val="2523353424"/>
                    </a:ext>
                  </a:extLst>
                </a:gridCol>
                <a:gridCol w="2081546">
                  <a:extLst>
                    <a:ext uri="{9D8B030D-6E8A-4147-A177-3AD203B41FA5}">
                      <a16:colId xmlns:a16="http://schemas.microsoft.com/office/drawing/2014/main" val="3423100471"/>
                    </a:ext>
                  </a:extLst>
                </a:gridCol>
              </a:tblGrid>
              <a:tr h="31088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Program</a:t>
                      </a:r>
                    </a:p>
                  </a:txBody>
                  <a:tcPr marL="91101" marR="91101" marT="45550" marB="45550"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Donatur</a:t>
                      </a:r>
                      <a:endParaRPr lang="en-US" sz="1800" dirty="0"/>
                    </a:p>
                  </a:txBody>
                  <a:tcPr marL="91101" marR="91101" marT="45550" marB="45550"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Total </a:t>
                      </a:r>
                      <a:r>
                        <a:rPr lang="en-US" sz="1800" dirty="0" err="1"/>
                        <a:t>Donasi</a:t>
                      </a:r>
                      <a:r>
                        <a:rPr lang="en-US" sz="1800" dirty="0"/>
                        <a:t> (Rp)</a:t>
                      </a:r>
                    </a:p>
                  </a:txBody>
                  <a:tcPr marL="91101" marR="91101" marT="45550" marB="45550"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26819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Program 1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214521036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Program 2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839274487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Program 3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4162149561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Program 4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3220010324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Program 5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3182763809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Program 6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1647278889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 err="1"/>
                        <a:t>Dst</a:t>
                      </a:r>
                      <a:r>
                        <a:rPr lang="en-US" sz="1800" dirty="0"/>
                        <a:t>…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40132929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68A588A-6839-CF96-BF0D-06CBCCBFBD6F}"/>
              </a:ext>
            </a:extLst>
          </p:cNvPr>
          <p:cNvSpPr txBox="1"/>
          <p:nvPr/>
        </p:nvSpPr>
        <p:spPr>
          <a:xfrm>
            <a:off x="7616283" y="2676293"/>
            <a:ext cx="3624146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 err="1"/>
              <a:t>Tambahkan</a:t>
            </a:r>
            <a:r>
              <a:rPr lang="en-US" b="1" dirty="0"/>
              <a:t> </a:t>
            </a:r>
            <a:r>
              <a:rPr lang="en-US" b="1" dirty="0" err="1"/>
              <a:t>grafik</a:t>
            </a:r>
            <a:r>
              <a:rPr lang="en-US" b="1" dirty="0"/>
              <a:t> </a:t>
            </a:r>
            <a:r>
              <a:rPr lang="en-US" b="1" dirty="0" err="1"/>
              <a:t>batang</a:t>
            </a:r>
            <a:r>
              <a:rPr lang="en-US" b="1" dirty="0"/>
              <a:t> </a:t>
            </a:r>
            <a:r>
              <a:rPr lang="en-US" b="1" dirty="0" err="1"/>
              <a:t>ke</a:t>
            </a:r>
            <a:r>
              <a:rPr lang="en-US" b="1" dirty="0"/>
              <a:t> </a:t>
            </a:r>
            <a:r>
              <a:rPr lang="en-US" b="1" dirty="0" err="1"/>
              <a:t>samping</a:t>
            </a:r>
            <a:r>
              <a:rPr lang="en-US" b="1" dirty="0"/>
              <a:t> </a:t>
            </a:r>
            <a:r>
              <a:rPr lang="en-US" b="1" dirty="0" err="1"/>
              <a:t>disini</a:t>
            </a:r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A193E7-49C8-AC66-0C49-4D238F1D70D6}"/>
              </a:ext>
            </a:extLst>
          </p:cNvPr>
          <p:cNvSpPr txBox="1"/>
          <p:nvPr/>
        </p:nvSpPr>
        <p:spPr>
          <a:xfrm>
            <a:off x="10470995" y="6398431"/>
            <a:ext cx="1594625" cy="3815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11.1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C2547A-59C7-3AD2-3B6C-2FEFC81461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1" b="36265"/>
          <a:stretch/>
        </p:blipFill>
        <p:spPr>
          <a:xfrm>
            <a:off x="9972472" y="207611"/>
            <a:ext cx="2062040" cy="73624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424B025-E430-5011-EBD2-04C9A71B8DB6}"/>
              </a:ext>
            </a:extLst>
          </p:cNvPr>
          <p:cNvGrpSpPr/>
          <p:nvPr/>
        </p:nvGrpSpPr>
        <p:grpSpPr>
          <a:xfrm>
            <a:off x="-10584" y="0"/>
            <a:ext cx="336551" cy="6858000"/>
            <a:chOff x="-10584" y="0"/>
            <a:chExt cx="336551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2BE8107-3F62-13E6-7949-E621B7957291}"/>
                </a:ext>
              </a:extLst>
            </p:cNvPr>
            <p:cNvSpPr/>
            <p:nvPr/>
          </p:nvSpPr>
          <p:spPr>
            <a:xfrm>
              <a:off x="-10584" y="0"/>
              <a:ext cx="336551" cy="575733"/>
            </a:xfrm>
            <a:prstGeom prst="rect">
              <a:avLst/>
            </a:prstGeom>
            <a:solidFill>
              <a:srgbClr val="213F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CC8662D-2444-63EA-43DF-129C11CF20AC}"/>
                </a:ext>
              </a:extLst>
            </p:cNvPr>
            <p:cNvSpPr/>
            <p:nvPr/>
          </p:nvSpPr>
          <p:spPr>
            <a:xfrm>
              <a:off x="0" y="575733"/>
              <a:ext cx="101600" cy="6282267"/>
            </a:xfrm>
            <a:prstGeom prst="rect">
              <a:avLst/>
            </a:prstGeom>
            <a:solidFill>
              <a:srgbClr val="01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2700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9986461-41F2-5591-09AB-EFF67D4AD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3">
            <a:extLst>
              <a:ext uri="{FF2B5EF4-FFF2-40B4-BE49-F238E27FC236}">
                <a16:creationId xmlns:a16="http://schemas.microsoft.com/office/drawing/2014/main" id="{986257BA-BA1E-0ED5-5F49-7D9E66DBCF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7012" y="215453"/>
            <a:ext cx="721110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Top Program</a:t>
            </a:r>
            <a:endParaRPr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53380AF3-5222-0898-7B04-3AE71B7509C4}"/>
              </a:ext>
            </a:extLst>
          </p:cNvPr>
          <p:cNvSpPr txBox="1">
            <a:spLocks/>
          </p:cNvSpPr>
          <p:nvPr/>
        </p:nvSpPr>
        <p:spPr>
          <a:xfrm>
            <a:off x="607012" y="773702"/>
            <a:ext cx="7211108" cy="44371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Bulan Ini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761396-034E-EC78-FD7E-A7F484251B3E}"/>
              </a:ext>
            </a:extLst>
          </p:cNvPr>
          <p:cNvGraphicFramePr>
            <a:graphicFrameLocks noGrp="1"/>
          </p:cNvGraphicFramePr>
          <p:nvPr/>
        </p:nvGraphicFramePr>
        <p:xfrm>
          <a:off x="607013" y="2233506"/>
          <a:ext cx="6244638" cy="292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81546">
                  <a:extLst>
                    <a:ext uri="{9D8B030D-6E8A-4147-A177-3AD203B41FA5}">
                      <a16:colId xmlns:a16="http://schemas.microsoft.com/office/drawing/2014/main" val="503123958"/>
                    </a:ext>
                  </a:extLst>
                </a:gridCol>
                <a:gridCol w="2081546">
                  <a:extLst>
                    <a:ext uri="{9D8B030D-6E8A-4147-A177-3AD203B41FA5}">
                      <a16:colId xmlns:a16="http://schemas.microsoft.com/office/drawing/2014/main" val="2523353424"/>
                    </a:ext>
                  </a:extLst>
                </a:gridCol>
                <a:gridCol w="2081546">
                  <a:extLst>
                    <a:ext uri="{9D8B030D-6E8A-4147-A177-3AD203B41FA5}">
                      <a16:colId xmlns:a16="http://schemas.microsoft.com/office/drawing/2014/main" val="3423100471"/>
                    </a:ext>
                  </a:extLst>
                </a:gridCol>
              </a:tblGrid>
              <a:tr h="31088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Program</a:t>
                      </a:r>
                    </a:p>
                  </a:txBody>
                  <a:tcPr marL="91101" marR="91101" marT="45550" marB="45550"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Donatur</a:t>
                      </a:r>
                      <a:endParaRPr lang="en-US" sz="1800" dirty="0"/>
                    </a:p>
                  </a:txBody>
                  <a:tcPr marL="91101" marR="91101" marT="45550" marB="45550"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Total </a:t>
                      </a:r>
                      <a:r>
                        <a:rPr lang="en-US" sz="1800" dirty="0" err="1"/>
                        <a:t>Donasi</a:t>
                      </a:r>
                      <a:r>
                        <a:rPr lang="en-US" sz="1800" dirty="0"/>
                        <a:t> (Rp)</a:t>
                      </a:r>
                    </a:p>
                  </a:txBody>
                  <a:tcPr marL="91101" marR="91101" marT="45550" marB="45550"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26819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Program 1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214521036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Program 2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839274487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Program 3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4162149561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Program 4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3220010324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Program 5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3182763809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Program 6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1647278889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 err="1"/>
                        <a:t>Dst</a:t>
                      </a:r>
                      <a:r>
                        <a:rPr lang="en-US" sz="1800" dirty="0"/>
                        <a:t>…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40132929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05B8869-BFDD-766A-182D-7639F4365661}"/>
              </a:ext>
            </a:extLst>
          </p:cNvPr>
          <p:cNvSpPr txBox="1"/>
          <p:nvPr/>
        </p:nvSpPr>
        <p:spPr>
          <a:xfrm>
            <a:off x="7616283" y="2676293"/>
            <a:ext cx="3624146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 err="1"/>
              <a:t>Tambahkan</a:t>
            </a:r>
            <a:r>
              <a:rPr lang="en-US" b="1" dirty="0"/>
              <a:t> </a:t>
            </a:r>
            <a:r>
              <a:rPr lang="en-US" b="1" dirty="0" err="1"/>
              <a:t>grafik</a:t>
            </a:r>
            <a:r>
              <a:rPr lang="en-US" b="1" dirty="0"/>
              <a:t> </a:t>
            </a:r>
            <a:r>
              <a:rPr lang="en-US" b="1" dirty="0" err="1"/>
              <a:t>batang</a:t>
            </a:r>
            <a:r>
              <a:rPr lang="en-US" b="1" dirty="0"/>
              <a:t> </a:t>
            </a:r>
            <a:r>
              <a:rPr lang="en-US" b="1" dirty="0" err="1"/>
              <a:t>ke</a:t>
            </a:r>
            <a:r>
              <a:rPr lang="en-US" b="1" dirty="0"/>
              <a:t> </a:t>
            </a:r>
            <a:r>
              <a:rPr lang="en-US" b="1" dirty="0" err="1"/>
              <a:t>samping</a:t>
            </a:r>
            <a:r>
              <a:rPr lang="en-US" b="1" dirty="0"/>
              <a:t> </a:t>
            </a:r>
            <a:r>
              <a:rPr lang="en-US" b="1" dirty="0" err="1"/>
              <a:t>disini</a:t>
            </a:r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A4C5DD-37A7-4841-71E6-C9FD4C9D6A50}"/>
              </a:ext>
            </a:extLst>
          </p:cNvPr>
          <p:cNvSpPr txBox="1"/>
          <p:nvPr/>
        </p:nvSpPr>
        <p:spPr>
          <a:xfrm>
            <a:off x="10470995" y="6398431"/>
            <a:ext cx="1594625" cy="3815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11.2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2A9001-9ABC-DC41-FE90-42A4EF7650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1" b="36265"/>
          <a:stretch/>
        </p:blipFill>
        <p:spPr>
          <a:xfrm>
            <a:off x="9972472" y="207611"/>
            <a:ext cx="2062040" cy="73624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FB94FAA-47C0-9309-3C72-D6960E6D7557}"/>
              </a:ext>
            </a:extLst>
          </p:cNvPr>
          <p:cNvGrpSpPr/>
          <p:nvPr/>
        </p:nvGrpSpPr>
        <p:grpSpPr>
          <a:xfrm>
            <a:off x="-10584" y="0"/>
            <a:ext cx="336551" cy="6858000"/>
            <a:chOff x="-10584" y="0"/>
            <a:chExt cx="336551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FD5C8C6-E49B-C3E2-3DFA-D18263D62F48}"/>
                </a:ext>
              </a:extLst>
            </p:cNvPr>
            <p:cNvSpPr/>
            <p:nvPr/>
          </p:nvSpPr>
          <p:spPr>
            <a:xfrm>
              <a:off x="-10584" y="0"/>
              <a:ext cx="336551" cy="575733"/>
            </a:xfrm>
            <a:prstGeom prst="rect">
              <a:avLst/>
            </a:prstGeom>
            <a:solidFill>
              <a:srgbClr val="213F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F11BD87-5EDF-E51A-AC13-9195488FA97F}"/>
                </a:ext>
              </a:extLst>
            </p:cNvPr>
            <p:cNvSpPr/>
            <p:nvPr/>
          </p:nvSpPr>
          <p:spPr>
            <a:xfrm>
              <a:off x="0" y="575733"/>
              <a:ext cx="101600" cy="6282267"/>
            </a:xfrm>
            <a:prstGeom prst="rect">
              <a:avLst/>
            </a:prstGeom>
            <a:solidFill>
              <a:srgbClr val="01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401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819CFD5-09B1-C8D4-A76C-A123436A5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3">
            <a:extLst>
              <a:ext uri="{FF2B5EF4-FFF2-40B4-BE49-F238E27FC236}">
                <a16:creationId xmlns:a16="http://schemas.microsoft.com/office/drawing/2014/main" id="{02D8944E-6A91-AAB7-16B7-DFD2419F23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7012" y="215453"/>
            <a:ext cx="721110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Top Channel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Pembayaran</a:t>
            </a:r>
            <a:endParaRPr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A212BBC9-60BE-34C3-564D-CAFDC60FEC0F}"/>
              </a:ext>
            </a:extLst>
          </p:cNvPr>
          <p:cNvSpPr txBox="1">
            <a:spLocks/>
          </p:cNvSpPr>
          <p:nvPr/>
        </p:nvSpPr>
        <p:spPr>
          <a:xfrm>
            <a:off x="607012" y="773702"/>
            <a:ext cx="7211108" cy="44371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Januari –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Desember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E9BE5F-B58A-E573-2EA5-734511E35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056489"/>
              </p:ext>
            </p:extLst>
          </p:nvPr>
        </p:nvGraphicFramePr>
        <p:xfrm>
          <a:off x="607013" y="2233506"/>
          <a:ext cx="6244638" cy="292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81546">
                  <a:extLst>
                    <a:ext uri="{9D8B030D-6E8A-4147-A177-3AD203B41FA5}">
                      <a16:colId xmlns:a16="http://schemas.microsoft.com/office/drawing/2014/main" val="503123958"/>
                    </a:ext>
                  </a:extLst>
                </a:gridCol>
                <a:gridCol w="2081546">
                  <a:extLst>
                    <a:ext uri="{9D8B030D-6E8A-4147-A177-3AD203B41FA5}">
                      <a16:colId xmlns:a16="http://schemas.microsoft.com/office/drawing/2014/main" val="2523353424"/>
                    </a:ext>
                  </a:extLst>
                </a:gridCol>
                <a:gridCol w="2081546">
                  <a:extLst>
                    <a:ext uri="{9D8B030D-6E8A-4147-A177-3AD203B41FA5}">
                      <a16:colId xmlns:a16="http://schemas.microsoft.com/office/drawing/2014/main" val="3423100471"/>
                    </a:ext>
                  </a:extLst>
                </a:gridCol>
              </a:tblGrid>
              <a:tr h="31088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Program</a:t>
                      </a:r>
                    </a:p>
                  </a:txBody>
                  <a:tcPr marL="91101" marR="91101" marT="45550" marB="45550"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Donatur</a:t>
                      </a:r>
                      <a:endParaRPr lang="en-US" sz="1800" dirty="0"/>
                    </a:p>
                  </a:txBody>
                  <a:tcPr marL="91101" marR="91101" marT="45550" marB="45550"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Total </a:t>
                      </a:r>
                      <a:r>
                        <a:rPr lang="en-US" sz="1800" dirty="0" err="1"/>
                        <a:t>Donasi</a:t>
                      </a:r>
                      <a:r>
                        <a:rPr lang="en-US" sz="1800" dirty="0"/>
                        <a:t> (Rp)</a:t>
                      </a:r>
                    </a:p>
                  </a:txBody>
                  <a:tcPr marL="91101" marR="91101" marT="45550" marB="45550"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26819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Channel 1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214521036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Channel 2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839274487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Channel 3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4162149561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Channel 4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3220010324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Channel 5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3182763809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Channel 6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1647278889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 err="1"/>
                        <a:t>Dst</a:t>
                      </a:r>
                      <a:r>
                        <a:rPr lang="en-US" sz="1800" dirty="0"/>
                        <a:t>…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40132929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C023710-1E47-1C73-1D17-3F1B7837C0A4}"/>
              </a:ext>
            </a:extLst>
          </p:cNvPr>
          <p:cNvSpPr txBox="1"/>
          <p:nvPr/>
        </p:nvSpPr>
        <p:spPr>
          <a:xfrm>
            <a:off x="7616283" y="2676293"/>
            <a:ext cx="3624146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 err="1"/>
              <a:t>Tambahkan</a:t>
            </a:r>
            <a:r>
              <a:rPr lang="en-US" b="1" dirty="0"/>
              <a:t> </a:t>
            </a:r>
            <a:r>
              <a:rPr lang="en-US" b="1" dirty="0" err="1"/>
              <a:t>grafik</a:t>
            </a:r>
            <a:r>
              <a:rPr lang="en-US" b="1" dirty="0"/>
              <a:t> </a:t>
            </a:r>
            <a:r>
              <a:rPr lang="en-US" b="1" dirty="0" err="1"/>
              <a:t>batang</a:t>
            </a:r>
            <a:r>
              <a:rPr lang="en-US" b="1" dirty="0"/>
              <a:t> </a:t>
            </a:r>
            <a:r>
              <a:rPr lang="en-US" b="1" dirty="0" err="1"/>
              <a:t>ke</a:t>
            </a:r>
            <a:r>
              <a:rPr lang="en-US" b="1" dirty="0"/>
              <a:t> </a:t>
            </a:r>
            <a:r>
              <a:rPr lang="en-US" b="1" dirty="0" err="1"/>
              <a:t>samping</a:t>
            </a:r>
            <a:r>
              <a:rPr lang="en-US" b="1" dirty="0"/>
              <a:t> </a:t>
            </a:r>
            <a:r>
              <a:rPr lang="en-US" b="1" dirty="0" err="1"/>
              <a:t>disini</a:t>
            </a:r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D1868D-1B9E-28E6-96FA-80EB2C583369}"/>
              </a:ext>
            </a:extLst>
          </p:cNvPr>
          <p:cNvSpPr txBox="1"/>
          <p:nvPr/>
        </p:nvSpPr>
        <p:spPr>
          <a:xfrm>
            <a:off x="10470995" y="6398431"/>
            <a:ext cx="1594625" cy="3815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12.1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72D731-CACC-52E4-4DE5-138BFF7DE0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1" b="36265"/>
          <a:stretch/>
        </p:blipFill>
        <p:spPr>
          <a:xfrm>
            <a:off x="9972472" y="207611"/>
            <a:ext cx="2062040" cy="73624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267E9F3-11AF-1474-DDC9-CF7890326274}"/>
              </a:ext>
            </a:extLst>
          </p:cNvPr>
          <p:cNvGrpSpPr/>
          <p:nvPr/>
        </p:nvGrpSpPr>
        <p:grpSpPr>
          <a:xfrm>
            <a:off x="-10584" y="0"/>
            <a:ext cx="336551" cy="6858000"/>
            <a:chOff x="-10584" y="0"/>
            <a:chExt cx="336551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A0A624-F63A-1D6E-CC07-F82664E9F7FB}"/>
                </a:ext>
              </a:extLst>
            </p:cNvPr>
            <p:cNvSpPr/>
            <p:nvPr/>
          </p:nvSpPr>
          <p:spPr>
            <a:xfrm>
              <a:off x="-10584" y="0"/>
              <a:ext cx="336551" cy="575733"/>
            </a:xfrm>
            <a:prstGeom prst="rect">
              <a:avLst/>
            </a:prstGeom>
            <a:solidFill>
              <a:srgbClr val="213F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DC0A61-21D5-721B-D463-BEF352DF4DF6}"/>
                </a:ext>
              </a:extLst>
            </p:cNvPr>
            <p:cNvSpPr/>
            <p:nvPr/>
          </p:nvSpPr>
          <p:spPr>
            <a:xfrm>
              <a:off x="0" y="575733"/>
              <a:ext cx="101600" cy="6282267"/>
            </a:xfrm>
            <a:prstGeom prst="rect">
              <a:avLst/>
            </a:prstGeom>
            <a:solidFill>
              <a:srgbClr val="01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1420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FE9390-762F-534D-B2D2-37EDCF86B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3">
            <a:extLst>
              <a:ext uri="{FF2B5EF4-FFF2-40B4-BE49-F238E27FC236}">
                <a16:creationId xmlns:a16="http://schemas.microsoft.com/office/drawing/2014/main" id="{8E663D43-D2B8-AE75-FF6D-BD3EB2E27F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7012" y="215453"/>
            <a:ext cx="721110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Top Channel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Pembayaran</a:t>
            </a:r>
            <a:endParaRPr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4B471C15-F0A9-8D17-9EFF-52BD61189D44}"/>
              </a:ext>
            </a:extLst>
          </p:cNvPr>
          <p:cNvSpPr txBox="1">
            <a:spLocks/>
          </p:cNvSpPr>
          <p:nvPr/>
        </p:nvSpPr>
        <p:spPr>
          <a:xfrm>
            <a:off x="607012" y="773702"/>
            <a:ext cx="7211108" cy="44371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Bulan Ini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F25A3D-ECC7-1B90-C510-3FAAAA7AD4C2}"/>
              </a:ext>
            </a:extLst>
          </p:cNvPr>
          <p:cNvGraphicFramePr>
            <a:graphicFrameLocks noGrp="1"/>
          </p:cNvGraphicFramePr>
          <p:nvPr/>
        </p:nvGraphicFramePr>
        <p:xfrm>
          <a:off x="607013" y="2233506"/>
          <a:ext cx="6244638" cy="292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81546">
                  <a:extLst>
                    <a:ext uri="{9D8B030D-6E8A-4147-A177-3AD203B41FA5}">
                      <a16:colId xmlns:a16="http://schemas.microsoft.com/office/drawing/2014/main" val="503123958"/>
                    </a:ext>
                  </a:extLst>
                </a:gridCol>
                <a:gridCol w="2081546">
                  <a:extLst>
                    <a:ext uri="{9D8B030D-6E8A-4147-A177-3AD203B41FA5}">
                      <a16:colId xmlns:a16="http://schemas.microsoft.com/office/drawing/2014/main" val="2523353424"/>
                    </a:ext>
                  </a:extLst>
                </a:gridCol>
                <a:gridCol w="2081546">
                  <a:extLst>
                    <a:ext uri="{9D8B030D-6E8A-4147-A177-3AD203B41FA5}">
                      <a16:colId xmlns:a16="http://schemas.microsoft.com/office/drawing/2014/main" val="3423100471"/>
                    </a:ext>
                  </a:extLst>
                </a:gridCol>
              </a:tblGrid>
              <a:tr h="31088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Program</a:t>
                      </a:r>
                    </a:p>
                  </a:txBody>
                  <a:tcPr marL="91101" marR="91101" marT="45550" marB="45550"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Donatur</a:t>
                      </a:r>
                      <a:endParaRPr lang="en-US" sz="1800" dirty="0"/>
                    </a:p>
                  </a:txBody>
                  <a:tcPr marL="91101" marR="91101" marT="45550" marB="45550"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Total </a:t>
                      </a:r>
                      <a:r>
                        <a:rPr lang="en-US" sz="1800" dirty="0" err="1"/>
                        <a:t>Donasi</a:t>
                      </a:r>
                      <a:r>
                        <a:rPr lang="en-US" sz="1800" dirty="0"/>
                        <a:t> (Rp)</a:t>
                      </a:r>
                    </a:p>
                  </a:txBody>
                  <a:tcPr marL="91101" marR="91101" marT="45550" marB="45550"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26819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Channel 1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214521036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Channel 2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839274487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Channel 3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4162149561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Channel 4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3220010324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Channel 5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3182763809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/>
                        <a:t>Channel 6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1647278889"/>
                  </a:ext>
                </a:extLst>
              </a:tr>
              <a:tr h="310886">
                <a:tc>
                  <a:txBody>
                    <a:bodyPr/>
                    <a:lstStyle/>
                    <a:p>
                      <a:r>
                        <a:rPr lang="en-US" sz="1800" dirty="0" err="1"/>
                        <a:t>Dst</a:t>
                      </a:r>
                      <a:r>
                        <a:rPr lang="en-US" sz="1800" dirty="0"/>
                        <a:t>…</a:t>
                      </a:r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101" marR="91101" marT="45550" marB="4555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101" marR="91101" marT="45550" marB="45550"/>
                </a:tc>
                <a:extLst>
                  <a:ext uri="{0D108BD9-81ED-4DB2-BD59-A6C34878D82A}">
                    <a16:rowId xmlns:a16="http://schemas.microsoft.com/office/drawing/2014/main" val="40132929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227F25C-877B-A9AD-6DEE-E62BDF5F88F3}"/>
              </a:ext>
            </a:extLst>
          </p:cNvPr>
          <p:cNvSpPr txBox="1"/>
          <p:nvPr/>
        </p:nvSpPr>
        <p:spPr>
          <a:xfrm>
            <a:off x="7616283" y="2676293"/>
            <a:ext cx="3624146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 err="1"/>
              <a:t>Tambahkan</a:t>
            </a:r>
            <a:r>
              <a:rPr lang="en-US" b="1" dirty="0"/>
              <a:t> </a:t>
            </a:r>
            <a:r>
              <a:rPr lang="en-US" b="1" dirty="0" err="1"/>
              <a:t>grafik</a:t>
            </a:r>
            <a:r>
              <a:rPr lang="en-US" b="1" dirty="0"/>
              <a:t> </a:t>
            </a:r>
            <a:r>
              <a:rPr lang="en-US" b="1" dirty="0" err="1"/>
              <a:t>batang</a:t>
            </a:r>
            <a:r>
              <a:rPr lang="en-US" b="1" dirty="0"/>
              <a:t> </a:t>
            </a:r>
            <a:r>
              <a:rPr lang="en-US" b="1" dirty="0" err="1"/>
              <a:t>ke</a:t>
            </a:r>
            <a:r>
              <a:rPr lang="en-US" b="1" dirty="0"/>
              <a:t> </a:t>
            </a:r>
            <a:r>
              <a:rPr lang="en-US" b="1" dirty="0" err="1"/>
              <a:t>samping</a:t>
            </a:r>
            <a:r>
              <a:rPr lang="en-US" b="1" dirty="0"/>
              <a:t> </a:t>
            </a:r>
            <a:r>
              <a:rPr lang="en-US" b="1" dirty="0" err="1"/>
              <a:t>disini</a:t>
            </a:r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2AE380-8F9C-EE84-C85A-ADACF230C351}"/>
              </a:ext>
            </a:extLst>
          </p:cNvPr>
          <p:cNvSpPr txBox="1"/>
          <p:nvPr/>
        </p:nvSpPr>
        <p:spPr>
          <a:xfrm>
            <a:off x="10470995" y="6398431"/>
            <a:ext cx="1594625" cy="3815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12.2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E86AD6-EF9E-07C7-1992-15617A9E2C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1" b="36265"/>
          <a:stretch/>
        </p:blipFill>
        <p:spPr>
          <a:xfrm>
            <a:off x="9972472" y="207611"/>
            <a:ext cx="2062040" cy="73624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38D28E1-F258-A304-563C-41EDD6479D72}"/>
              </a:ext>
            </a:extLst>
          </p:cNvPr>
          <p:cNvGrpSpPr/>
          <p:nvPr/>
        </p:nvGrpSpPr>
        <p:grpSpPr>
          <a:xfrm>
            <a:off x="-10584" y="0"/>
            <a:ext cx="336551" cy="6858000"/>
            <a:chOff x="-10584" y="0"/>
            <a:chExt cx="336551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5CBA5FC-2FA8-A833-DD4E-6B276845E2BE}"/>
                </a:ext>
              </a:extLst>
            </p:cNvPr>
            <p:cNvSpPr/>
            <p:nvPr/>
          </p:nvSpPr>
          <p:spPr>
            <a:xfrm>
              <a:off x="-10584" y="0"/>
              <a:ext cx="336551" cy="575733"/>
            </a:xfrm>
            <a:prstGeom prst="rect">
              <a:avLst/>
            </a:prstGeom>
            <a:solidFill>
              <a:srgbClr val="213F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F37FE35-E665-DE2E-DBF6-3368F9F755EB}"/>
                </a:ext>
              </a:extLst>
            </p:cNvPr>
            <p:cNvSpPr/>
            <p:nvPr/>
          </p:nvSpPr>
          <p:spPr>
            <a:xfrm>
              <a:off x="0" y="575733"/>
              <a:ext cx="101600" cy="6282267"/>
            </a:xfrm>
            <a:prstGeom prst="rect">
              <a:avLst/>
            </a:prstGeom>
            <a:solidFill>
              <a:srgbClr val="01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6300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A482D6-C48F-7BE8-A071-3FBB1845FE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F2F2EA9-A1B0-0971-67B2-62F8180D7868}"/>
              </a:ext>
            </a:extLst>
          </p:cNvPr>
          <p:cNvSpPr/>
          <p:nvPr/>
        </p:nvSpPr>
        <p:spPr>
          <a:xfrm>
            <a:off x="0" y="0"/>
            <a:ext cx="8496300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12892" y="2375333"/>
            <a:ext cx="6830908" cy="2070099"/>
          </a:xfrm>
        </p:spPr>
        <p:txBody>
          <a:bodyPr anchor="ctr">
            <a:no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66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Kesimpulan</a:t>
            </a:r>
            <a:endParaRPr lang="id-ID" altLang="en-US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023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144AA37-7BA7-4574-AE29-D1368EE6F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3">
            <a:extLst>
              <a:ext uri="{FF2B5EF4-FFF2-40B4-BE49-F238E27FC236}">
                <a16:creationId xmlns:a16="http://schemas.microsoft.com/office/drawing/2014/main" id="{89584078-A56B-D98C-E423-00D4E477CD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7012" y="215453"/>
            <a:ext cx="721110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Kesimpulan</a:t>
            </a:r>
            <a:endParaRPr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6AE189-40B3-60E6-FE62-3D583543744C}"/>
              </a:ext>
            </a:extLst>
          </p:cNvPr>
          <p:cNvSpPr txBox="1"/>
          <p:nvPr/>
        </p:nvSpPr>
        <p:spPr>
          <a:xfrm>
            <a:off x="735422" y="1361842"/>
            <a:ext cx="10683147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Ada </a:t>
            </a:r>
            <a:r>
              <a:rPr lang="en-US" dirty="0" err="1"/>
              <a:t>penurunan</a:t>
            </a:r>
            <a:r>
              <a:rPr lang="en-US" dirty="0"/>
              <a:t> </a:t>
            </a:r>
            <a:r>
              <a:rPr lang="en-US" dirty="0" err="1"/>
              <a:t>sekitar</a:t>
            </a:r>
            <a:r>
              <a:rPr lang="en-US" dirty="0"/>
              <a:t> 0.5%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bulan</a:t>
            </a:r>
            <a:r>
              <a:rPr lang="en-US" dirty="0"/>
              <a:t> April </a:t>
            </a:r>
            <a:r>
              <a:rPr lang="en-US" dirty="0" err="1"/>
              <a:t>ke</a:t>
            </a:r>
            <a:r>
              <a:rPr lang="en-US" dirty="0"/>
              <a:t> Mei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/>
              <a:t>Program paling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donasinya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Infak Palestina dan </a:t>
            </a:r>
            <a:r>
              <a:rPr lang="en-ID" dirty="0" err="1"/>
              <a:t>Sedekah</a:t>
            </a:r>
            <a:r>
              <a:rPr lang="en-ID" dirty="0"/>
              <a:t> Palestina, </a:t>
            </a:r>
            <a:r>
              <a:rPr lang="en-ID" dirty="0" err="1"/>
              <a:t>dengan</a:t>
            </a:r>
            <a:r>
              <a:rPr lang="en-ID" dirty="0"/>
              <a:t> total </a:t>
            </a:r>
            <a:r>
              <a:rPr lang="en-ID" dirty="0" err="1"/>
              <a:t>donasi</a:t>
            </a:r>
            <a:r>
              <a:rPr lang="en-ID" dirty="0"/>
              <a:t> masing-masing 688.389.896 dan 231.074.976</a:t>
            </a:r>
          </a:p>
          <a:p>
            <a:pPr marL="342900" indent="-342900">
              <a:buFont typeface="+mj-lt"/>
              <a:buAutoNum type="arabicPeriod"/>
            </a:pPr>
            <a:r>
              <a:rPr lang="en-ID" b="1" dirty="0"/>
              <a:t>Ada </a:t>
            </a:r>
            <a:r>
              <a:rPr lang="en-ID" b="1" dirty="0" err="1"/>
              <a:t>peningkatan</a:t>
            </a:r>
            <a:r>
              <a:rPr lang="en-ID" b="1" dirty="0"/>
              <a:t> </a:t>
            </a:r>
            <a:r>
              <a:rPr lang="en-ID" b="1" dirty="0" err="1"/>
              <a:t>donatur</a:t>
            </a:r>
            <a:r>
              <a:rPr lang="en-ID" b="1" dirty="0"/>
              <a:t> loyal ….% di </a:t>
            </a:r>
            <a:r>
              <a:rPr lang="en-ID" b="1" dirty="0" err="1"/>
              <a:t>bulan</a:t>
            </a:r>
            <a:r>
              <a:rPr lang="en-ID" b="1" dirty="0"/>
              <a:t> </a:t>
            </a:r>
            <a:r>
              <a:rPr lang="en-ID" b="1" dirty="0" err="1"/>
              <a:t>mei</a:t>
            </a:r>
            <a:endParaRPr lang="en-ID" b="1" dirty="0"/>
          </a:p>
          <a:p>
            <a:pPr marL="342900" indent="-342900">
              <a:buFont typeface="+mj-lt"/>
              <a:buAutoNum type="arabicPeriod"/>
            </a:pPr>
            <a:r>
              <a:rPr lang="en-ID" b="1" dirty="0"/>
              <a:t>Ada </a:t>
            </a:r>
            <a:r>
              <a:rPr lang="en-ID" b="1" dirty="0" err="1"/>
              <a:t>peningkatan</a:t>
            </a:r>
            <a:r>
              <a:rPr lang="en-ID" b="1" dirty="0"/>
              <a:t> </a:t>
            </a:r>
            <a:r>
              <a:rPr lang="en-ID" b="1" dirty="0" err="1"/>
              <a:t>donatur</a:t>
            </a:r>
            <a:r>
              <a:rPr lang="en-ID" b="1" dirty="0"/>
              <a:t> gold </a:t>
            </a:r>
            <a:r>
              <a:rPr lang="en-ID" b="1" dirty="0" err="1"/>
              <a:t>sebanyak</a:t>
            </a:r>
            <a:r>
              <a:rPr lang="en-ID" b="1" dirty="0"/>
              <a:t> ….% dan platinum …..%</a:t>
            </a:r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US" b="1" dirty="0" err="1"/>
              <a:t>Dst</a:t>
            </a:r>
            <a:r>
              <a:rPr lang="en-US" b="1" dirty="0"/>
              <a:t>……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E1DB62-F460-C586-9406-6F8A75E0193C}"/>
              </a:ext>
            </a:extLst>
          </p:cNvPr>
          <p:cNvSpPr txBox="1"/>
          <p:nvPr/>
        </p:nvSpPr>
        <p:spPr>
          <a:xfrm>
            <a:off x="10470995" y="6398431"/>
            <a:ext cx="1594625" cy="3815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13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59060C-031C-79F3-61B4-79971047E0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1" b="36265"/>
          <a:stretch/>
        </p:blipFill>
        <p:spPr>
          <a:xfrm>
            <a:off x="9972472" y="207611"/>
            <a:ext cx="2062040" cy="73624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6B10668-CB7A-4C97-EDA6-E17A20FA7A72}"/>
              </a:ext>
            </a:extLst>
          </p:cNvPr>
          <p:cNvGrpSpPr/>
          <p:nvPr/>
        </p:nvGrpSpPr>
        <p:grpSpPr>
          <a:xfrm>
            <a:off x="-10584" y="0"/>
            <a:ext cx="336551" cy="6858000"/>
            <a:chOff x="-10584" y="0"/>
            <a:chExt cx="336551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ECCB088-4EDB-B0F8-F95D-CD6FD623B8DD}"/>
                </a:ext>
              </a:extLst>
            </p:cNvPr>
            <p:cNvSpPr/>
            <p:nvPr/>
          </p:nvSpPr>
          <p:spPr>
            <a:xfrm>
              <a:off x="-10584" y="0"/>
              <a:ext cx="336551" cy="575733"/>
            </a:xfrm>
            <a:prstGeom prst="rect">
              <a:avLst/>
            </a:prstGeom>
            <a:solidFill>
              <a:srgbClr val="213F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90059C9-438F-9663-D304-6577DBF97D7F}"/>
                </a:ext>
              </a:extLst>
            </p:cNvPr>
            <p:cNvSpPr/>
            <p:nvPr/>
          </p:nvSpPr>
          <p:spPr>
            <a:xfrm>
              <a:off x="0" y="575733"/>
              <a:ext cx="101600" cy="6282267"/>
            </a:xfrm>
            <a:prstGeom prst="rect">
              <a:avLst/>
            </a:prstGeom>
            <a:solidFill>
              <a:srgbClr val="01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92803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4279A-B954-A72B-D239-8559DC753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511290-2886-7F1E-4A69-762EFC740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00E6355-F108-0A4E-DA45-9AA4684DEE65}"/>
              </a:ext>
            </a:extLst>
          </p:cNvPr>
          <p:cNvSpPr/>
          <p:nvPr/>
        </p:nvSpPr>
        <p:spPr>
          <a:xfrm>
            <a:off x="0" y="0"/>
            <a:ext cx="8496300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16F42C7C-3C8F-561F-1756-16F4DAEE3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2892" y="2375333"/>
            <a:ext cx="6830908" cy="2070099"/>
          </a:xfrm>
        </p:spPr>
        <p:txBody>
          <a:bodyPr anchor="ctr">
            <a:no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6600" b="1" dirty="0" err="1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Pembelajaran</a:t>
            </a:r>
            <a:r>
              <a:rPr lang="en-US" altLang="en-US" sz="66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altLang="en-US" sz="6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&amp;</a:t>
            </a:r>
            <a:br>
              <a:rPr lang="en-US" altLang="en-US" sz="66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n-US" altLang="en-US" sz="6600" dirty="0" err="1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Tindak</a:t>
            </a:r>
            <a:r>
              <a:rPr lang="en-US" altLang="en-US" sz="6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Lanjut</a:t>
            </a:r>
            <a:endParaRPr lang="id-ID" altLang="en-US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788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A4D8F-26D9-7ED4-7BFF-979611875E89}"/>
              </a:ext>
            </a:extLst>
          </p:cNvPr>
          <p:cNvSpPr txBox="1"/>
          <p:nvPr/>
        </p:nvSpPr>
        <p:spPr>
          <a:xfrm>
            <a:off x="649355" y="600949"/>
            <a:ext cx="115426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Pembelajaran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Laporan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Data Analis</a:t>
            </a:r>
            <a:endParaRPr lang="id-ID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463A49B0-9B4F-B36D-B248-82E1EE584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318058"/>
              </p:ext>
            </p:extLst>
          </p:nvPr>
        </p:nvGraphicFramePr>
        <p:xfrm>
          <a:off x="722473" y="1616612"/>
          <a:ext cx="10549748" cy="2044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180">
                  <a:extLst>
                    <a:ext uri="{9D8B030D-6E8A-4147-A177-3AD203B41FA5}">
                      <a16:colId xmlns:a16="http://schemas.microsoft.com/office/drawing/2014/main" val="382716871"/>
                    </a:ext>
                  </a:extLst>
                </a:gridCol>
                <a:gridCol w="2963809">
                  <a:extLst>
                    <a:ext uri="{9D8B030D-6E8A-4147-A177-3AD203B41FA5}">
                      <a16:colId xmlns:a16="http://schemas.microsoft.com/office/drawing/2014/main" val="229501221"/>
                    </a:ext>
                  </a:extLst>
                </a:gridCol>
                <a:gridCol w="7034759">
                  <a:extLst>
                    <a:ext uri="{9D8B030D-6E8A-4147-A177-3AD203B41FA5}">
                      <a16:colId xmlns:a16="http://schemas.microsoft.com/office/drawing/2014/main" val="3048017750"/>
                    </a:ext>
                  </a:extLst>
                </a:gridCol>
              </a:tblGrid>
              <a:tr h="431655">
                <a:tc>
                  <a:txBody>
                    <a:bodyPr/>
                    <a:lstStyle/>
                    <a:p>
                      <a:pPr algn="ctr"/>
                      <a:r>
                        <a:rPr lang="id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id-ID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Dari</a:t>
                      </a:r>
                      <a:endParaRPr lang="id-ID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Pembelajaran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Positif</a:t>
                      </a:r>
                      <a:endParaRPr lang="id-ID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581051"/>
                  </a:ext>
                </a:extLst>
              </a:tr>
              <a:tr h="486328">
                <a:tc>
                  <a:txBody>
                    <a:bodyPr/>
                    <a:lstStyle/>
                    <a:p>
                      <a:pPr algn="ctr"/>
                      <a:r>
                        <a:rPr lang="id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Anlyst</a:t>
                      </a:r>
                      <a:endParaRPr lang="id-ID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………….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…………..</a:t>
                      </a:r>
                      <a:endParaRPr lang="id-ID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676015"/>
                  </a:ext>
                </a:extLst>
              </a:tr>
              <a:tr h="48632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id-ID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CRM</a:t>
                      </a:r>
                      <a:endParaRPr lang="id-ID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…………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55435"/>
                  </a:ext>
                </a:extLst>
              </a:tr>
              <a:tr h="48632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id-ID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…..</a:t>
                      </a:r>
                      <a:endParaRPr lang="id-ID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………………</a:t>
                      </a:r>
                      <a:endParaRPr lang="id-ID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82799"/>
                  </a:ext>
                </a:extLst>
              </a:tr>
            </a:tbl>
          </a:graphicData>
        </a:graphic>
      </p:graphicFrame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6A0B0546-8B99-83B3-7977-DB613870A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77203"/>
              </p:ext>
            </p:extLst>
          </p:nvPr>
        </p:nvGraphicFramePr>
        <p:xfrm>
          <a:off x="722473" y="3935323"/>
          <a:ext cx="10549748" cy="2198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180">
                  <a:extLst>
                    <a:ext uri="{9D8B030D-6E8A-4147-A177-3AD203B41FA5}">
                      <a16:colId xmlns:a16="http://schemas.microsoft.com/office/drawing/2014/main" val="382716871"/>
                    </a:ext>
                  </a:extLst>
                </a:gridCol>
                <a:gridCol w="2963809">
                  <a:extLst>
                    <a:ext uri="{9D8B030D-6E8A-4147-A177-3AD203B41FA5}">
                      <a16:colId xmlns:a16="http://schemas.microsoft.com/office/drawing/2014/main" val="229501221"/>
                    </a:ext>
                  </a:extLst>
                </a:gridCol>
                <a:gridCol w="7034759">
                  <a:extLst>
                    <a:ext uri="{9D8B030D-6E8A-4147-A177-3AD203B41FA5}">
                      <a16:colId xmlns:a16="http://schemas.microsoft.com/office/drawing/2014/main" val="3048017750"/>
                    </a:ext>
                  </a:extLst>
                </a:gridCol>
              </a:tblGrid>
              <a:tr h="431655">
                <a:tc>
                  <a:txBody>
                    <a:bodyPr/>
                    <a:lstStyle/>
                    <a:p>
                      <a:pPr algn="ctr"/>
                      <a:r>
                        <a:rPr lang="id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id-ID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Dari</a:t>
                      </a:r>
                      <a:endParaRPr lang="id-ID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Pembelajaran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Konstruktif</a:t>
                      </a:r>
                      <a:endParaRPr lang="id-ID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581051"/>
                  </a:ext>
                </a:extLst>
              </a:tr>
              <a:tr h="486328">
                <a:tc>
                  <a:txBody>
                    <a:bodyPr/>
                    <a:lstStyle/>
                    <a:p>
                      <a:pPr algn="ctr"/>
                      <a:r>
                        <a:rPr lang="id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Analyst</a:t>
                      </a:r>
                      <a:endParaRPr lang="id-ID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……..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……..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676015"/>
                  </a:ext>
                </a:extLst>
              </a:tr>
              <a:tr h="48632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id-ID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CRM</a:t>
                      </a:r>
                      <a:endParaRPr lang="id-ID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………</a:t>
                      </a:r>
                      <a:endParaRPr lang="id-ID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55435"/>
                  </a:ext>
                </a:extLst>
              </a:tr>
              <a:tr h="48632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id-ID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……</a:t>
                      </a:r>
                      <a:endParaRPr lang="id-ID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…….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…….</a:t>
                      </a:r>
                      <a:endParaRPr lang="id-ID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8279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40B969F-CE3E-0AB2-F5AB-668B24D40EC1}"/>
              </a:ext>
            </a:extLst>
          </p:cNvPr>
          <p:cNvSpPr txBox="1"/>
          <p:nvPr/>
        </p:nvSpPr>
        <p:spPr>
          <a:xfrm>
            <a:off x="10470995" y="6398431"/>
            <a:ext cx="1594625" cy="3815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14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80A323-60CE-5045-8425-E90095BA1C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1" b="36265"/>
          <a:stretch/>
        </p:blipFill>
        <p:spPr>
          <a:xfrm>
            <a:off x="9972472" y="207611"/>
            <a:ext cx="2062040" cy="73624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6D5462D-745A-0646-B774-535E5AE79BEC}"/>
              </a:ext>
            </a:extLst>
          </p:cNvPr>
          <p:cNvGrpSpPr/>
          <p:nvPr/>
        </p:nvGrpSpPr>
        <p:grpSpPr>
          <a:xfrm>
            <a:off x="-10584" y="0"/>
            <a:ext cx="336551" cy="6858000"/>
            <a:chOff x="-10584" y="0"/>
            <a:chExt cx="336551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CCD1FB6-0F17-8EEA-C79C-EED5C7A6B1AF}"/>
                </a:ext>
              </a:extLst>
            </p:cNvPr>
            <p:cNvSpPr/>
            <p:nvPr/>
          </p:nvSpPr>
          <p:spPr>
            <a:xfrm>
              <a:off x="-10584" y="0"/>
              <a:ext cx="336551" cy="575733"/>
            </a:xfrm>
            <a:prstGeom prst="rect">
              <a:avLst/>
            </a:prstGeom>
            <a:solidFill>
              <a:srgbClr val="213F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A17DCC3-D70F-B451-9A90-D6ECB36AA3AE}"/>
                </a:ext>
              </a:extLst>
            </p:cNvPr>
            <p:cNvSpPr/>
            <p:nvPr/>
          </p:nvSpPr>
          <p:spPr>
            <a:xfrm>
              <a:off x="0" y="575733"/>
              <a:ext cx="101600" cy="6282267"/>
            </a:xfrm>
            <a:prstGeom prst="rect">
              <a:avLst/>
            </a:prstGeom>
            <a:solidFill>
              <a:srgbClr val="01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3355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FCAAA4-C050-8A13-753E-6A5EB83B276F}"/>
              </a:ext>
            </a:extLst>
          </p:cNvPr>
          <p:cNvSpPr txBox="1"/>
          <p:nvPr/>
        </p:nvSpPr>
        <p:spPr>
          <a:xfrm>
            <a:off x="649355" y="600949"/>
            <a:ext cx="115426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Tindak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Lanjut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Peningkatan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Kinerja</a:t>
            </a:r>
            <a:endParaRPr lang="id-ID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BDA85D1-13BF-8E83-8175-06F76EF00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185138"/>
              </p:ext>
            </p:extLst>
          </p:nvPr>
        </p:nvGraphicFramePr>
        <p:xfrm>
          <a:off x="656088" y="1671465"/>
          <a:ext cx="10879823" cy="1620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481">
                  <a:extLst>
                    <a:ext uri="{9D8B030D-6E8A-4147-A177-3AD203B41FA5}">
                      <a16:colId xmlns:a16="http://schemas.microsoft.com/office/drawing/2014/main" val="382716871"/>
                    </a:ext>
                  </a:extLst>
                </a:gridCol>
                <a:gridCol w="3986184">
                  <a:extLst>
                    <a:ext uri="{9D8B030D-6E8A-4147-A177-3AD203B41FA5}">
                      <a16:colId xmlns:a16="http://schemas.microsoft.com/office/drawing/2014/main" val="229501221"/>
                    </a:ext>
                  </a:extLst>
                </a:gridCol>
                <a:gridCol w="2454095">
                  <a:extLst>
                    <a:ext uri="{9D8B030D-6E8A-4147-A177-3AD203B41FA5}">
                      <a16:colId xmlns:a16="http://schemas.microsoft.com/office/drawing/2014/main" val="3048017750"/>
                    </a:ext>
                  </a:extLst>
                </a:gridCol>
                <a:gridCol w="2145016">
                  <a:extLst>
                    <a:ext uri="{9D8B030D-6E8A-4147-A177-3AD203B41FA5}">
                      <a16:colId xmlns:a16="http://schemas.microsoft.com/office/drawing/2014/main" val="792211820"/>
                    </a:ext>
                  </a:extLst>
                </a:gridCol>
                <a:gridCol w="1766047">
                  <a:extLst>
                    <a:ext uri="{9D8B030D-6E8A-4147-A177-3AD203B41FA5}">
                      <a16:colId xmlns:a16="http://schemas.microsoft.com/office/drawing/2014/main" val="3551140743"/>
                    </a:ext>
                  </a:extLst>
                </a:gridCol>
              </a:tblGrid>
              <a:tr h="431655">
                <a:tc>
                  <a:txBody>
                    <a:bodyPr/>
                    <a:lstStyle/>
                    <a:p>
                      <a:pPr algn="ctr"/>
                      <a:r>
                        <a:rPr lang="id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id-ID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Tindak Lanjut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id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Deadline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id-ID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581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id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CRM: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Interaksi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diperbanyak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Standarisasi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script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Recruitment CRM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8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Anang 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Ziyad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Intan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Juli – Des 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31 Juli 2024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 Juli 2024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6760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0FA3C66-F452-83B1-F2B1-923338CF8BC2}"/>
              </a:ext>
            </a:extLst>
          </p:cNvPr>
          <p:cNvSpPr txBox="1"/>
          <p:nvPr/>
        </p:nvSpPr>
        <p:spPr>
          <a:xfrm>
            <a:off x="10470995" y="6398431"/>
            <a:ext cx="1594625" cy="3815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TASK 15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65599D-28F5-B77A-DB3F-C7973CBB73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1" b="36265"/>
          <a:stretch/>
        </p:blipFill>
        <p:spPr>
          <a:xfrm>
            <a:off x="9972472" y="207611"/>
            <a:ext cx="2062040" cy="73624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7346059-7A72-641D-18FA-F0F09E2CB2C6}"/>
              </a:ext>
            </a:extLst>
          </p:cNvPr>
          <p:cNvGrpSpPr/>
          <p:nvPr/>
        </p:nvGrpSpPr>
        <p:grpSpPr>
          <a:xfrm>
            <a:off x="-10584" y="0"/>
            <a:ext cx="336551" cy="6858000"/>
            <a:chOff x="-10584" y="0"/>
            <a:chExt cx="336551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0AA043D-D6C8-91CD-BD24-79E49EAA31FC}"/>
                </a:ext>
              </a:extLst>
            </p:cNvPr>
            <p:cNvSpPr/>
            <p:nvPr/>
          </p:nvSpPr>
          <p:spPr>
            <a:xfrm>
              <a:off x="-10584" y="0"/>
              <a:ext cx="336551" cy="575733"/>
            </a:xfrm>
            <a:prstGeom prst="rect">
              <a:avLst/>
            </a:prstGeom>
            <a:solidFill>
              <a:srgbClr val="213F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79F6F09-4172-B7AA-EE86-1F26525B6A4A}"/>
                </a:ext>
              </a:extLst>
            </p:cNvPr>
            <p:cNvSpPr/>
            <p:nvPr/>
          </p:nvSpPr>
          <p:spPr>
            <a:xfrm>
              <a:off x="0" y="575733"/>
              <a:ext cx="101600" cy="6282267"/>
            </a:xfrm>
            <a:prstGeom prst="rect">
              <a:avLst/>
            </a:prstGeom>
            <a:solidFill>
              <a:srgbClr val="01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endParaRPr lang="id-ID" sz="1867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95209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E49B04F-5513-6A69-E196-53CDD8C99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85E331-F68E-7F9F-E91F-3586FFEDE8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72" b="22508"/>
          <a:stretch/>
        </p:blipFill>
        <p:spPr>
          <a:xfrm>
            <a:off x="0" y="0"/>
            <a:ext cx="12192000" cy="412990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7E115C7-2543-6A2B-BC85-B643D7E9E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2023" y="3632200"/>
            <a:ext cx="9404006" cy="1644034"/>
          </a:xfrm>
          <a:noFill/>
        </p:spPr>
        <p:txBody>
          <a:bodyPr>
            <a:noAutofit/>
          </a:bodyPr>
          <a:lstStyle/>
          <a:p>
            <a:pPr algn="l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Terimakasih</a:t>
            </a:r>
            <a:endParaRPr lang="en-US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149CA6-9DF7-2E7D-13AC-8DC5ABBF24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31" b="36265"/>
          <a:stretch/>
        </p:blipFill>
        <p:spPr>
          <a:xfrm>
            <a:off x="9385190" y="141664"/>
            <a:ext cx="2536182" cy="90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731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3783</TotalTime>
  <Words>1557</Words>
  <Application>Microsoft Office PowerPoint</Application>
  <PresentationFormat>Widescreen</PresentationFormat>
  <Paragraphs>750</Paragraphs>
  <Slides>27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Segoe UI</vt:lpstr>
      <vt:lpstr>Office Theme</vt:lpstr>
      <vt:lpstr>Laporan Data Analis 2025</vt:lpstr>
      <vt:lpstr>Overview  (Visualisasi data dalam 1 halaman)</vt:lpstr>
      <vt:lpstr>Overview </vt:lpstr>
      <vt:lpstr>PowerPoint Presentation</vt:lpstr>
      <vt:lpstr>Overview (Visualisasi data)</vt:lpstr>
      <vt:lpstr>Data Donatur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CRM</vt:lpstr>
      <vt:lpstr>PowerPoint Presentation</vt:lpstr>
      <vt:lpstr>PowerPoint Presentation</vt:lpstr>
      <vt:lpstr>PowerPoint Presentation</vt:lpstr>
      <vt:lpstr>PowerPoint Presentation</vt:lpstr>
      <vt:lpstr>Top Program  &amp; Channel Pembayaran</vt:lpstr>
      <vt:lpstr>Top Program</vt:lpstr>
      <vt:lpstr>Top Program</vt:lpstr>
      <vt:lpstr>Top Channel Pembayaran</vt:lpstr>
      <vt:lpstr>Top Channel Pembayaran</vt:lpstr>
      <vt:lpstr>Kesimpulan</vt:lpstr>
      <vt:lpstr>Kesimpulan</vt:lpstr>
      <vt:lpstr>Pembelajaran &amp; Tindak Lanjut</vt:lpstr>
      <vt:lpstr>PowerPoint Presentation</vt:lpstr>
      <vt:lpstr>PowerPoint Presentation</vt:lpstr>
      <vt:lpstr>Terimakasih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KELUAR DARI ZONA NYAMAN ANDA</dc:title>
  <dc:creator>HP</dc:creator>
  <cp:lastModifiedBy>faruq izah al afghani</cp:lastModifiedBy>
  <cp:revision>172</cp:revision>
  <dcterms:created xsi:type="dcterms:W3CDTF">2019-07-16T04:02:12Z</dcterms:created>
  <dcterms:modified xsi:type="dcterms:W3CDTF">2025-06-09T03:01:06Z</dcterms:modified>
</cp:coreProperties>
</file>